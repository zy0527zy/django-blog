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开场（约20秒）：今天介绍AI时代新出现的两个概念。Vibe Coding是一种新的软件开发「方式」，SDD规格驱动开发是一种新的软件开发「过程」。我会讲清它们各自的内涵、怎么工作，以及2025年至今的发展状态，最后对比二者关系。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第2页（约30秒）：先看三组数据——Stack Overflow 2025调查显示全球84%开发者已用或计划用AI编码工具；Google称超25%新代码由AI生成再由人审查；YC冬季批次四分之一初创代码库95%是AI写的。当AI写代码成为常态，催生两种代表性新范式：Vibe Coding是一种开发方式，SDD是一种开发过程。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第3页（约40秒）：Vibe Coding这个词是OpenAI创始成员、前Tesla AI总监Karpathy在2025年2月2日的一条帖子里提出的。他的原话是"完全沉浸在感觉里，拥抱指数级进步，甚至忘记代码的存在""我几乎不碰键盘，总是点全部接受，再也不读代码改动了"。它的内涵是：用自然语言说清想要什么，AI来写代码，开发者从逐行写代码的人，变成引导意图、验收结果的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4页（约35秒）：它的工作方式是一个四步循环——先用自然语言描述意图，AI生成代码，运行看效果，不满意就把报错贴回去让它改，循环往复直到感觉对了。关键分水岭是"你还读不读代码"：完全不审查、一路Accept All才是严格意义的vibe coding；只要逐行审查，就回到了普通的AI辅助编程。代表工具包括Cursor、Claude Code、Windsurf、Replit Agent、Lovable、bolt.new等。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第5页（约40秒）：发展时间线——2025年2月Karpathy造词；春夏Cursor、Lovable等工具爆发；5月安全研究员在Lovable生成的应用里发现高危漏洞CVE-48757，CVSS 8.26，扫描的1600多个应用中170个可被未授权访问用户数据和API密钥；11月它当选Collins词典年度词汇。它擅长原型、Demo、一次性脚本和非开发者做轻应用；但Martin Fowler指出，不读代码会带来可维护性、正确性、安全问题，最适合面向有限受众的"一次性软件"，上生产必须有审查和工程纪律。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第6页（约25秒，转折页）：Vibe Coding的信条是"忘记代码的存在"，但当它被用于生产系统就撞了墙。AI agent强大但不可预测，一句随口的自然语言是有损的，意图和约束在对话里不断丢失，导致结果不可预测、难维护、难审计。2025年年中出现的SDD反转了工作流，它的信条是"规格才是唯一真相源"——先把要什么写清楚，再让AI实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7页（约40秒）：SDD即规格驱动开发，是面向AI编码agent的方法。它最核心的反转是：规格而不是代码才是主要产物和唯一事实来源。先写结构化规格——需求、场景、约束，再由规格依次驱动计划、任务、实现，代码只是规格的生成产物；需求变了先改规格再重新生成代码。对比看：Vibe是从松散prompt直接到代码、代码成了真相、规格缺失；SDD是spec到plan到tasks再到代码，规格始终是真相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第8页（约40秒）：以GitHub开源的Spec Kit为代表，SDD是一条五段式流水线：第一步constitution立宪，定工程原则、技术栈和不可违背的约束；第二步specify写规格，写清需求、场景和验收标准，这是核心；第三步plan做技术计划；第四步tasks拆成原子任务；第五步implement由agent逐项编码并对照规格验证。AWS的Kiro把它精简为requirements、design、tasks三阶段。关键是规格持续存活，发现问题回到spec改完再重新生成，而不是直接改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第9页（约40秒）：SDD在2025年下半年集中落地。两个代表：一是AWS的Kiro，2025年7月14日公开预览、11月17日正式发布，是第一个围绕规格驱动开发构建的AI IDE，内置requirements、design、tasks三阶段specs和自动化hooks；二是GitHub的Spec Kit，2025年9月2日随官方博客开源，agent无关，适配Copilot、Claude Code、Gemini、Cursor等30多种工具，截至2026年9月官方项目页已有13万多star、270多贡献者。此外OpenSpec面向遗留系统做变更隔离。它主要用于生产级、团队协作和需要审计的长期项目。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第10页（约35秒，收尾）：对比二者——Vibe Coding的主要产物是能跑的应用、真相源是代码、人少读代码、流程松散，最适合原型和一次性工具，风险在质量、安全和技术债；SDD的主要产物是规格、规格是真相源、人负责写规格和评审、走五阶段流程，适合生产系统和长期维护，代价是前期投入。它们不是谁取代谁，而是同一光谱的两端：早期探索用Vibe快速试错，进入生产用SDD求稳，按项目阶段和风险取舍。我的介绍到此结束，欢迎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https://survey.stackoverflow.co/2025/" TargetMode="External" Type="http://schemas.openxmlformats.org/officeDocument/2006/relationships/hyperlink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https://x.com/karpathy" TargetMode="External" Type="http://schemas.openxmlformats.org/officeDocument/2006/relationships/hyperlink"/><Relationship Id="rId3" Target="https://cloud.google.com/discover/what-is-vibe-coding" TargetMode="External" Type="http://schemas.openxmlformats.org/officeDocument/2006/relationships/hyperlink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https://scrimba.com/articles/what-is-vibe-coding/" TargetMode="External" Type="http://schemas.openxmlformats.org/officeDocument/2006/relationships/hyperlink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https://www.collinsdictionary.com/woty" TargetMode="External" Type="http://schemas.openxmlformats.org/officeDocument/2006/relationships/hyperlink"/><Relationship Id="rId3" Target="https://www.martinfowler.com/bliki/VibeCoding.html" TargetMode="External" Type="http://schemas.openxmlformats.org/officeDocument/2006/relationships/hyperlink"/><Relationship Id="rId4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https://github.blog/ai-and-ml/generative-ai/spec-driven-development-with-ai-get-started-with-a-new-open-source-toolkit/" TargetMode="External" Type="http://schemas.openxmlformats.org/officeDocument/2006/relationships/hyperlink"/><Relationship Id="rId3" Target="https://dev.to/bobbyblaine/spec-driven-development-write-the-spec-not-the-code-2p5o" TargetMode="External" Type="http://schemas.openxmlformats.org/officeDocument/2006/relationships/hyperlink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https://github.github.com/spec-kit/" TargetMode="External" Type="http://schemas.openxmlformats.org/officeDocument/2006/relationships/hyperlink"/><Relationship Id="rId3" Target="https://kiro.dev/docs/specs/" TargetMode="External" Type="http://schemas.openxmlformats.org/officeDocument/2006/relationships/hyperlink"/><Relationship Id="rId4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https://kiro.dev/blog/general-availability/" TargetMode="External" Type="http://schemas.openxmlformats.org/officeDocument/2006/relationships/hyperlink"/><Relationship Id="rId3" Target="https://github.github.com/spec-kit/" TargetMode="External" Type="http://schemas.openxmlformats.org/officeDocument/2006/relationships/hyperlink"/><Relationship Id="rId4" Target="https://github.blog/ai-and-ml/generative-ai/spec-driven-development-with-ai-get-started-with-a-new-open-source-toolkit/" TargetMode="External" Type="http://schemas.openxmlformats.org/officeDocument/2006/relationships/hyperlink"/><Relationship Id="rId5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https://www.collinsdictionary.com/woty" TargetMode="External" Type="http://schemas.openxmlformats.org/officeDocument/2006/relationships/hyperlink"/><Relationship Id="rId3" Target="https://survey.stackoverflow.co/2025/" TargetMode="External" Type="http://schemas.openxmlformats.org/officeDocument/2006/relationships/hyperlink"/><Relationship Id="rId4" Target="https://www.martinfowler.com/bliki/VibeCoding.html" TargetMode="External" Type="http://schemas.openxmlformats.org/officeDocument/2006/relationships/hyperlink"/><Relationship Id="rId5" Target="https://github.blog/ai-and-ml/generative-ai/spec-driven-development-with-ai-get-started-with-a-new-open-source-toolkit/" TargetMode="External" Type="http://schemas.openxmlformats.org/officeDocument/2006/relationships/hyperlink"/><Relationship Id="rId6" Target="https://github.github.com/spec-kit/" TargetMode="External" Type="http://schemas.openxmlformats.org/officeDocument/2006/relationships/hyperlink"/><Relationship Id="rId7" Target="https://kiro.dev/docs/specs/" TargetMode="External" Type="http://schemas.openxmlformats.org/officeDocument/2006/relationships/hyperlink"/><Relationship Id="rId8" Target="../notesSlides/notesSlide10.xml" Type="http://schemas.openxmlformats.org/officeDocument/2006/relationships/notesSlide"/><Relationship Id="rId9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1A1A1E">
                  <a:alpha val="97000"/>
                </a:srgbClr>
              </a:gs>
              <a:gs pos="42000">
                <a:srgbClr val="1A1A1E">
                  <a:alpha val="90000"/>
                </a:srgbClr>
              </a:gs>
              <a:gs pos="74000">
                <a:srgbClr val="1A1A1E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12800" y="838200"/>
            <a:ext cx="660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$ software_engineering / ai_coding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63654" flipH="false" flipV="false">
            <a:off x="812859" y="1339850"/>
            <a:ext cx="68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4E92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87400" y="1778000"/>
            <a:ext cx="685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 AI 开始写代码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87400" y="2870200"/>
            <a:ext cx="685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D4E92C"/>
                </a:solidFill>
                <a:latin typeface="Noto Sans SC"/>
                <a:ea typeface="Noto Sans SC"/>
                <a:cs typeface="Noto Sans SC"/>
                <a:sym typeface="Noto Sans SC"/>
              </a:rPr>
              <a:t>Vibe Coding 与 SDD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" y="3708400"/>
            <a:ext cx="635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500">
                <a:solidFill>
                  <a:srgbClr val="B8BCC2"/>
                </a:solidFill>
                <a:latin typeface="Noto Sans SC"/>
                <a:ea typeface="Noto Sans SC"/>
                <a:cs typeface="Noto Sans SC"/>
                <a:sym typeface="Noto Sans SC"/>
              </a:rPr>
              <a:t>AI 时代新出现的一种软件开发「方式」，与一种软件开发「过程」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B8BCC2"/>
                </a:solidFill>
                <a:latin typeface="Noto Sans SC"/>
                <a:ea typeface="Noto Sans SC"/>
                <a:cs typeface="Noto Sans SC"/>
                <a:sym typeface="Noto Sans SC"/>
              </a:rPr>
              <a:t>——两项新方法的内涵与当前发展状态调研</a:t>
            </a:r>
          </a:p>
        </p:txBody>
      </p:sp>
      <p:cxnSp>
        <p:nvCxnSpPr>
          <p:cNvPr name="Connector 9" id="9"/>
          <p:cNvCxnSpPr/>
          <p:nvPr/>
        </p:nvCxnSpPr>
        <p:spPr>
          <a:xfrm rot="-6930" flipH="false" flipV="false">
            <a:off x="812806" y="5454650"/>
            <a:ext cx="629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12800" y="5664200"/>
            <a:ext cx="660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课程：软件工程　|　汇报人：　　　　　班级：　　　　　日期：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topic: (1) vibe-coding (2) spec-driven-development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0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00 / BACKGROUND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508000"/>
            <a:ext cx="1219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02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87400" y="10414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已经在写大量代码，两种代表性新范式随之出现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847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2260600"/>
            <a:ext cx="3327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84%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" y="3200400"/>
            <a:ext cx="3327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开发者已用上 AI 编码工具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" y="3581400"/>
            <a:ext cx="32512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全球 84% 的开发者已使用或计划使用 AI 编码工具；美国这一比例约 92%。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379537" flipH="false" flipV="false">
            <a:off x="3200400" y="3371869"/>
            <a:ext cx="213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4521200" y="2260600"/>
            <a:ext cx="3327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25%+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21200" y="3200400"/>
            <a:ext cx="3327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大厂新代码由 AI 生成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21200" y="3581400"/>
            <a:ext cx="32512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Google 披露超过 25% 的新代码由 AI 生成，再经工程师审查、接受。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79537" flipH="false" flipV="false">
            <a:off x="6908800" y="3371869"/>
            <a:ext cx="213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8229600" y="2260600"/>
            <a:ext cx="3327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1/4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29600" y="3200400"/>
            <a:ext cx="3327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初创代码库几乎全由 AI 写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29600" y="3581400"/>
            <a:ext cx="31496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YC 2025 冬季批次约四分之一初创，代码库 95% 由 AI 生成。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4131" flipH="false" flipV="false">
            <a:off x="812804" y="4718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12800" y="4978400"/>
            <a:ext cx="10566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▸ VIBE CODING　</a:t>
            </a:r>
            <a:r>
              <a:rPr lang="en-US" b="false" i="false" strike="noStrike" u="none" sz="1400">
                <a:solidFill>
                  <a:srgbClr val="DCDEE2"/>
                </a:solidFill>
                <a:latin typeface="Noto Sans SC"/>
                <a:ea typeface="Noto Sans SC"/>
                <a:cs typeface="Noto Sans SC"/>
                <a:sym typeface="Noto Sans SC"/>
              </a:rPr>
              <a:t>一种开发「方式」：用自然语言描述意图，AI 写代码，人来引导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" y="5435600"/>
            <a:ext cx="10566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▸ SDD　　　　　</a:t>
            </a:r>
            <a:r>
              <a:rPr lang="en-US" b="false" i="false" strike="noStrike" u="none" sz="1400">
                <a:solidFill>
                  <a:srgbClr val="DCDEE2"/>
                </a:solidFill>
                <a:latin typeface="Noto Sans SC"/>
                <a:ea typeface="Noto Sans SC"/>
                <a:cs typeface="Noto Sans SC"/>
                <a:sym typeface="Noto Sans SC"/>
              </a:rPr>
              <a:t>一种开发「过程」：规格（Spec）作为唯一真相源，驱动 AI 规划与实现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" y="6350000"/>
            <a:ext cx="10566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  <a:hlinkClick r:id="rId2" tooltip="https://survey.stackoverflow.co/2025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Stack Overflow Developer Survey 2025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　|　Google CEO Sundar Pichai 2025 年公开表态　|　Y Combinator（Jared Friedman, 2025）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0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01 / VIBE CODING · 内涵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508000"/>
            <a:ext cx="1219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03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87400" y="9906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Vibe Coding：说清「想要什么」，让 AI 写代码，人不再逐行读代码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695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981200"/>
            <a:ext cx="5105400" cy="4114800"/>
          </a:xfrm>
          <a:prstGeom prst="roundRect">
            <a:avLst>
              <a:gd name="adj" fmla="val 0"/>
            </a:avLst>
          </a:prstGeom>
          <a:solidFill>
            <a:srgbClr val="202026">
              <a:alpha val="100000"/>
            </a:srgbClr>
          </a:solidFill>
          <a:ln w="12700" cmpd="sng" cap="flat">
            <a:solidFill>
              <a:srgbClr val="34343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" y="1981200"/>
            <a:ext cx="5105400" cy="381000"/>
          </a:xfrm>
          <a:prstGeom prst="roundRect">
            <a:avLst>
              <a:gd name="adj" fmla="val 0"/>
            </a:avLst>
          </a:prstGeom>
          <a:solidFill>
            <a:srgbClr val="2A2A3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90600" y="2120900"/>
            <a:ext cx="101600" cy="101600"/>
          </a:xfrm>
          <a:prstGeom prst="ellipse">
            <a:avLst/>
          </a:prstGeom>
          <a:solidFill>
            <a:srgbClr val="787C8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93800" y="2120900"/>
            <a:ext cx="101600" cy="101600"/>
          </a:xfrm>
          <a:prstGeom prst="ellipse">
            <a:avLst/>
          </a:prstGeom>
          <a:solidFill>
            <a:srgbClr val="787C8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397000" y="2120900"/>
            <a:ext cx="101600" cy="101600"/>
          </a:xfrm>
          <a:prstGeom prst="ellipse">
            <a:avLst/>
          </a:prstGeom>
          <a:solidFill>
            <a:srgbClr val="787C8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676400" y="20447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karpathy @ X · 2025-02-02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66800" y="2590800"/>
            <a:ext cx="45974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n-US" b="false" i="false" strike="noStrike" u="none" sz="1300">
                <a:solidFill>
                  <a:srgbClr val="C8CCD2"/>
                </a:solidFill>
                <a:latin typeface="Roboto Mono"/>
                <a:ea typeface="Roboto Mono"/>
                <a:cs typeface="Roboto Mono"/>
                <a:sym typeface="Roboto Mono"/>
              </a:rPr>
              <a:t> cat vibe.txt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C8CCD2"/>
                </a:solidFill>
                <a:latin typeface="Roboto Mono"/>
                <a:ea typeface="Roboto Mono"/>
                <a:cs typeface="Roboto Mono"/>
                <a:sym typeface="Roboto Mono"/>
              </a:rPr>
              <a:t>"There's a new kind of coding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C8CCD2"/>
                </a:solidFill>
                <a:latin typeface="Roboto Mono"/>
                <a:ea typeface="Roboto Mono"/>
                <a:cs typeface="Roboto Mono"/>
                <a:sym typeface="Roboto Mono"/>
              </a:rPr>
              <a:t>I call </a:t>
            </a:r>
            <a:r>
              <a:rPr lang="en-US" b="fals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'vibe coding'</a:t>
            </a:r>
            <a:r>
              <a:rPr lang="en-US" b="false" i="false" strike="noStrike" u="none" sz="1300">
                <a:solidFill>
                  <a:srgbClr val="C8CCD2"/>
                </a:solidFill>
                <a:latin typeface="Roboto Mono"/>
                <a:ea typeface="Roboto Mono"/>
                <a:cs typeface="Roboto Mono"/>
                <a:sym typeface="Roboto Mono"/>
              </a:rPr>
              <a:t>, where you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C8CCD2"/>
                </a:solidFill>
                <a:latin typeface="Roboto Mono"/>
                <a:ea typeface="Roboto Mono"/>
                <a:cs typeface="Roboto Mono"/>
                <a:sym typeface="Roboto Mono"/>
              </a:rPr>
              <a:t>fully give in to the vibes,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C8CCD2"/>
                </a:solidFill>
                <a:latin typeface="Roboto Mono"/>
                <a:ea typeface="Roboto Mono"/>
                <a:cs typeface="Roboto Mono"/>
                <a:sym typeface="Roboto Mono"/>
              </a:rPr>
              <a:t>embrace exponentials, and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forget that the code even exists.</a:t>
            </a:r>
            <a:r>
              <a:rPr lang="en-US" b="false" i="false" strike="noStrike" u="none" sz="1300">
                <a:solidFill>
                  <a:srgbClr val="C8CCD2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C8CCD2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— I barely even touch the</a:t>
            </a:r>
            <a:r>
              <a:rPr lang="en-US" b="false" i="false" strike="noStrike" u="none" sz="1300">
                <a:solidFill>
                  <a:srgbClr val="C8CCD2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keyboard. Accept All, I don't</a:t>
            </a:r>
            <a:r>
              <a:rPr lang="en-US" b="false" i="false" strike="noStrike" u="none" sz="1300">
                <a:solidFill>
                  <a:srgbClr val="C8CCD2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read the diffs anymore.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1981200"/>
            <a:ext cx="5029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// DEFINITION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2311400"/>
            <a:ext cx="50292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D6D8DC"/>
                </a:solidFill>
                <a:latin typeface="Noto Sans SC"/>
                <a:ea typeface="Noto Sans SC"/>
                <a:cs typeface="Noto Sans SC"/>
                <a:sym typeface="Noto Sans SC"/>
              </a:rPr>
              <a:t>用自然语言提示描述想要的效果，由 AI 生成、修改代码的开发方式；开发者主要通过对话引导方向、判断运行结果，而非逐行编写与审查代码。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8681" flipH="false" flipV="false">
            <a:off x="6350008" y="33718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350000" y="3556000"/>
            <a:ext cx="5029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// ROLE SHIFT　角色转变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3886200"/>
            <a:ext cx="5029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代码编写者 ⟶ 意图引导者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4343400"/>
            <a:ext cx="5029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更像产品经理或指挥者：描述目标、验收效果，把具体实现交给 AI。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8681" flipH="false" flipV="false">
            <a:off x="6350008" y="50228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350000" y="5207000"/>
            <a:ext cx="5029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// SIGNATURE MOVES　标志性动作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50000" y="5537200"/>
            <a:ext cx="50292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·</a:t>
            </a:r>
            <a:r>
              <a:rPr lang="en-US" b="false" i="false" strike="noStrike" u="none" sz="1300">
                <a:solidFill>
                  <a:srgbClr val="C8CCD2"/>
                </a:solidFill>
                <a:latin typeface="Noto Sans SC"/>
                <a:ea typeface="Noto Sans SC"/>
                <a:cs typeface="Noto Sans SC"/>
                <a:sym typeface="Noto Sans SC"/>
              </a:rPr>
              <a:t> 一路 Accept All，接受 AI 补全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·</a:t>
            </a:r>
            <a:r>
              <a:rPr lang="en-US" b="false" i="false" strike="noStrike" u="none" sz="1300">
                <a:solidFill>
                  <a:srgbClr val="C8CCD2"/>
                </a:solidFill>
                <a:latin typeface="Noto Sans SC"/>
                <a:ea typeface="Noto Sans SC"/>
                <a:cs typeface="Noto Sans SC"/>
                <a:sym typeface="Noto Sans SC"/>
              </a:rPr>
              <a:t> 不再阅读每次改动的代码 diff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·</a:t>
            </a:r>
            <a:r>
              <a:rPr lang="en-US" b="false" i="false" strike="noStrike" u="none" sz="1300">
                <a:solidFill>
                  <a:srgbClr val="C8CCD2"/>
                </a:solidFill>
                <a:latin typeface="Noto Sans SC"/>
                <a:ea typeface="Noto Sans SC"/>
                <a:cs typeface="Noto Sans SC"/>
                <a:sym typeface="Noto Sans SC"/>
              </a:rPr>
              <a:t> 报错原样贴回，让 AI 反复改到能跑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2800" y="6350000"/>
            <a:ext cx="10566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  <a:hlinkClick r:id="rId2" tooltip="https://x.com/karpath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A. Karpathy 于 X 的原帖（2025-02-02）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　|　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cloud.google.com/discover/what-is-vibe-cod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Cloud: What is vibe coding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　|　Collins Dictionary 2025 年度词汇释义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0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01 / VIBE CODING · 工作方式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508000"/>
            <a:ext cx="1219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04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87400" y="9906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工作循环：描述 → 生成 → 运行 → 微调，一圈圈逼近预期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695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2006600"/>
            <a:ext cx="2286000" cy="1778000"/>
          </a:xfrm>
          <a:prstGeom prst="roundRect">
            <a:avLst>
              <a:gd name="adj" fmla="val 0"/>
            </a:avLst>
          </a:prstGeom>
          <a:solidFill>
            <a:srgbClr val="202026">
              <a:alpha val="100000"/>
            </a:srgbClr>
          </a:solidFill>
          <a:ln w="12700" cmpd="sng" cap="flat">
            <a:solidFill>
              <a:srgbClr val="34343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90600" y="2184400"/>
            <a:ext cx="1930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01 · describe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90600" y="2514600"/>
            <a:ext cx="1930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描述意图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90600" y="2895600"/>
            <a:ext cx="19304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用自然语言、语音或截图说清「想要什么」，不规定怎么实现。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352800" y="2006600"/>
            <a:ext cx="2286000" cy="1778000"/>
          </a:xfrm>
          <a:prstGeom prst="roundRect">
            <a:avLst>
              <a:gd name="adj" fmla="val 0"/>
            </a:avLst>
          </a:prstGeom>
          <a:solidFill>
            <a:srgbClr val="202026">
              <a:alpha val="100000"/>
            </a:srgbClr>
          </a:solidFill>
          <a:ln w="12700" cmpd="sng" cap="flat">
            <a:solidFill>
              <a:srgbClr val="34343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530600" y="2184400"/>
            <a:ext cx="1930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02 · generate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30600" y="2514600"/>
            <a:ext cx="1930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生成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530600" y="2895600"/>
            <a:ext cx="19304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大模型直接产出代码与文件，人通常不逐行阅读。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892800" y="2006600"/>
            <a:ext cx="2286000" cy="1778000"/>
          </a:xfrm>
          <a:prstGeom prst="roundRect">
            <a:avLst>
              <a:gd name="adj" fmla="val 0"/>
            </a:avLst>
          </a:prstGeom>
          <a:solidFill>
            <a:srgbClr val="202026">
              <a:alpha val="100000"/>
            </a:srgbClr>
          </a:solidFill>
          <a:ln w="12700" cmpd="sng" cap="flat">
            <a:solidFill>
              <a:srgbClr val="34343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70600" y="2184400"/>
            <a:ext cx="1930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03 · run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70600" y="2514600"/>
            <a:ext cx="1930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运行看效果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070600" y="2895600"/>
            <a:ext cx="19304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运行应用、试用功能，凭结果和「感觉」判断对不对。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432800" y="2006600"/>
            <a:ext cx="2286000" cy="1778000"/>
          </a:xfrm>
          <a:prstGeom prst="roundRect">
            <a:avLst>
              <a:gd name="adj" fmla="val 0"/>
            </a:avLst>
          </a:prstGeom>
          <a:solidFill>
            <a:srgbClr val="202026">
              <a:alpha val="100000"/>
            </a:srgbClr>
          </a:solidFill>
          <a:ln w="12700" cmpd="sng" cap="flat">
            <a:solidFill>
              <a:srgbClr val="34343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610600" y="2184400"/>
            <a:ext cx="1930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04 · nudge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610600" y="2514600"/>
            <a:ext cx="1930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反馈微调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610600" y="2895600"/>
            <a:ext cx="19304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把报错或不满原样贴回，让 AI 再改，直到能跑通。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90789" flipH="false" flipV="false">
            <a:off x="3098976" y="28892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A8B2C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23" id="23"/>
          <p:cNvCxnSpPr/>
          <p:nvPr/>
        </p:nvCxnSpPr>
        <p:spPr>
          <a:xfrm rot="-190789" flipH="false" flipV="false">
            <a:off x="5638976" y="28892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A8B2C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24" id="24"/>
          <p:cNvCxnSpPr/>
          <p:nvPr/>
        </p:nvCxnSpPr>
        <p:spPr>
          <a:xfrm rot="-190789" flipH="false" flipV="false">
            <a:off x="8178976" y="28892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A8B2C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25" id="25"/>
          <p:cNvCxnSpPr/>
          <p:nvPr/>
        </p:nvCxnSpPr>
        <p:spPr>
          <a:xfrm rot="10795546" flipH="false" flipV="false">
            <a:off x="914396" y="4006850"/>
            <a:ext cx="980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A8B2C">
                <a:alpha val="100000"/>
              </a:srgbClr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7620000" y="4089400"/>
            <a:ext cx="3759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A8B2C"/>
                </a:solidFill>
                <a:latin typeface="Roboto Mono"/>
                <a:ea typeface="Roboto Mono"/>
                <a:cs typeface="Roboto Mono"/>
                <a:sym typeface="Roboto Mono"/>
              </a:rPr>
              <a:t>loop until it feels right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4131" flipH="false" flipV="false">
            <a:off x="812804" y="4514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812800" y="4724400"/>
            <a:ext cx="609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// 分水岭：你还读不读代码？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12800" y="5080000"/>
            <a:ext cx="6096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·</a:t>
            </a:r>
            <a:r>
              <a:rPr lang="en-US" b="false" i="false" strike="noStrike" u="none" sz="1300">
                <a:solidFill>
                  <a:srgbClr val="C8CCD2"/>
                </a:solidFill>
                <a:latin typeface="Noto Sans SC"/>
                <a:ea typeface="Noto Sans SC"/>
                <a:cs typeface="Noto Sans SC"/>
                <a:sym typeface="Noto Sans SC"/>
              </a:rPr>
              <a:t> 不审查、一路 Accept All —— 严格意义上的 vibe coding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·</a:t>
            </a:r>
            <a:r>
              <a:rPr lang="en-US" b="false" i="false" strike="noStrike" u="none" sz="1300">
                <a:solidFill>
                  <a:srgbClr val="C8CCD2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3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逐行审查后再合并 —— 其实回到了「AI 辅助编程」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213600" y="4724400"/>
            <a:ext cx="4165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// 代表性工具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213600" y="5105400"/>
            <a:ext cx="41656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200">
                <a:solidFill>
                  <a:srgbClr val="BEC2C8"/>
                </a:solidFill>
                <a:latin typeface="Roboto Mono"/>
                <a:ea typeface="Roboto Mono"/>
                <a:cs typeface="Roboto Mono"/>
                <a:sym typeface="Roboto Mono"/>
              </a:rPr>
              <a:t>Cursor · Claude Code · Windsurf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BEC2C8"/>
                </a:solidFill>
                <a:latin typeface="Roboto Mono"/>
                <a:ea typeface="Roboto Mono"/>
                <a:cs typeface="Roboto Mono"/>
                <a:sym typeface="Roboto Mono"/>
              </a:rPr>
              <a:t>Replit Agent · Lovable · bolt.new · v0</a:t>
            </a:r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12800" y="6350000"/>
            <a:ext cx="10566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  <a:hlinkClick r:id="rId2" tooltip="https://scrimba.com/articles/what-is-vibe-coding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Scrimba: What Is Vibe Coding（describe→generate→run→nudge 循环与「审查即分界」）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　|　各工具官网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0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01 / VIBE CODING · 发展状态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508000"/>
            <a:ext cx="1219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05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87400" y="9906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不到一年：从一条帖子到年度词汇，质量警钟也随之敲响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695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-4396" flipH="false" flipV="false">
            <a:off x="1143004" y="2609850"/>
            <a:ext cx="993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6464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508000" y="20066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2025.02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74800" y="2540000"/>
            <a:ext cx="152400" cy="152400"/>
          </a:xfrm>
          <a:prstGeom prst="ellipse">
            <a:avLst/>
          </a:prstGeom>
          <a:solidFill>
            <a:srgbClr val="D4E9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" y="2870200"/>
            <a:ext cx="241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概念诞生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" y="3200400"/>
            <a:ext cx="2413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Karpathy 在 X 提出 vibe coding，迅速在开发者圈引爆。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581400" y="20066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2025 春夏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48200" y="2540000"/>
            <a:ext cx="152400" cy="152400"/>
          </a:xfrm>
          <a:prstGeom prst="ellipse">
            <a:avLst/>
          </a:prstGeom>
          <a:solidFill>
            <a:srgbClr val="D4E9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517900" y="2870200"/>
            <a:ext cx="241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工具爆发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517900" y="3200400"/>
            <a:ext cx="2413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Cursor、Lovable、v0、Replit Agent 等普及，原型大量涌现。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54800" y="20066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2025.05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721600" y="2540000"/>
            <a:ext cx="152400" cy="152400"/>
          </a:xfrm>
          <a:prstGeom prst="ellipse">
            <a:avLst/>
          </a:prstGeom>
          <a:solidFill>
            <a:srgbClr val="C930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91300" y="2870200"/>
            <a:ext cx="241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安全警钟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91300" y="3200400"/>
            <a:ext cx="2413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Lovable 生成应用被发现高危漏洞 CVE-2025-48757，可致数据泄露。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728200" y="20066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2025.11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795000" y="2540000"/>
            <a:ext cx="152400" cy="152400"/>
          </a:xfrm>
          <a:prstGeom prst="ellipse">
            <a:avLst/>
          </a:prstGeom>
          <a:solidFill>
            <a:srgbClr val="D4E9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664700" y="2870200"/>
            <a:ext cx="241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主流认可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664700" y="3200400"/>
            <a:ext cx="2413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vibe coding 当选 Collins 词典 2025 年度词汇。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4131" flipH="false" flipV="false">
            <a:off x="812804" y="4108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812800" y="4318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// 擅长：求快、一次性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12800" y="4673600"/>
            <a:ext cx="508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[+]</a:t>
            </a:r>
            <a:r>
              <a:rPr lang="en-US" b="false" i="false" strike="noStrike" u="none" sz="1300">
                <a:solidFill>
                  <a:srgbClr val="C8CCD2"/>
                </a:solidFill>
                <a:latin typeface="Noto Sans SC"/>
                <a:ea typeface="Noto Sans SC"/>
                <a:cs typeface="Noto Sans SC"/>
                <a:sym typeface="Noto Sans SC"/>
              </a:rPr>
              <a:t> 原型 / MVP 快速验证想法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[+]</a:t>
            </a:r>
            <a:r>
              <a:rPr lang="en-US" b="false" i="false" strike="noStrike" u="none" sz="1300">
                <a:solidFill>
                  <a:srgbClr val="C8CCD2"/>
                </a:solidFill>
                <a:latin typeface="Noto Sans SC"/>
                <a:ea typeface="Noto Sans SC"/>
                <a:cs typeface="Noto Sans SC"/>
                <a:sym typeface="Noto Sans SC"/>
              </a:rPr>
              <a:t> 黑客松、周末项目、演示 Demo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[+]</a:t>
            </a:r>
            <a:r>
              <a:rPr lang="en-US" b="false" i="false" strike="noStrike" u="none" sz="1300">
                <a:solidFill>
                  <a:srgbClr val="C8CCD2"/>
                </a:solidFill>
                <a:latin typeface="Noto Sans SC"/>
                <a:ea typeface="Noto Sans SC"/>
                <a:cs typeface="Noto Sans SC"/>
                <a:sym typeface="Noto Sans SC"/>
              </a:rPr>
              <a:t> 一次性脚本、内部小工具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[+]</a:t>
            </a:r>
            <a:r>
              <a:rPr lang="en-US" b="false" i="false" strike="noStrike" u="none" sz="1300">
                <a:solidFill>
                  <a:srgbClr val="C8CCD2"/>
                </a:solidFill>
                <a:latin typeface="Noto Sans SC"/>
                <a:ea typeface="Noto Sans SC"/>
                <a:cs typeface="Noto Sans SC"/>
                <a:sym typeface="Noto Sans SC"/>
              </a:rPr>
              <a:t> 非开发者搭建轻量应用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99200" y="4318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// 边界：生产环境要谨慎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299200" y="4673600"/>
            <a:ext cx="508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300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[!]</a:t>
            </a:r>
            <a:r>
              <a:rPr lang="en-US" b="false" i="false" strike="noStrike" u="none" sz="1300">
                <a:solidFill>
                  <a:srgbClr val="C8CCD2"/>
                </a:solidFill>
                <a:latin typeface="Noto Sans SC"/>
                <a:ea typeface="Noto Sans SC"/>
                <a:cs typeface="Noto Sans SC"/>
                <a:sym typeface="Noto Sans SC"/>
              </a:rPr>
              <a:t> 不读代码，易留可维护性、正确性隐患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[!]</a:t>
            </a:r>
            <a:r>
              <a:rPr lang="en-US" b="false" i="false" strike="noStrike" u="none" sz="1300">
                <a:solidFill>
                  <a:srgbClr val="C8CCD2"/>
                </a:solidFill>
                <a:latin typeface="Noto Sans SC"/>
                <a:ea typeface="Noto Sans SC"/>
                <a:cs typeface="Noto Sans SC"/>
                <a:sym typeface="Noto Sans SC"/>
              </a:rPr>
              <a:t> 默认配置错误可致安全漏洞与数据泄露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[!]</a:t>
            </a:r>
            <a:r>
              <a:rPr lang="en-US" b="false" i="false" strike="noStrike" u="none" sz="1300">
                <a:solidFill>
                  <a:srgbClr val="C8CCD2"/>
                </a:solidFill>
                <a:latin typeface="Noto Sans SC"/>
                <a:ea typeface="Noto Sans SC"/>
                <a:cs typeface="Noto Sans SC"/>
                <a:sym typeface="Noto Sans SC"/>
              </a:rPr>
              <a:t> 复杂系统中技术债会快速累积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12800" y="6350000"/>
            <a:ext cx="10566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  <a:hlinkClick r:id="rId2" tooltip="https://www.collinsdictionary.com/wo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Collins Dictionary WOTY 2025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　|　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www.martinfowler.com/bliki/VibeCoding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Martin Fowler: VibeCoding（最适合一次性软件）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　|　CVE-2025-48757（研究员 Matt Palmer, 2025-05）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A1A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762000"/>
            <a:ext cx="762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02 / SPEC-DRIVEN DEVELOPMENT · 转折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762000"/>
            <a:ext cx="1219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06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050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sngStrike" u="none" sz="1900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"forget that the code even exists"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336800"/>
            <a:ext cx="889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—— Vibe Coding 的信条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04531" flipH="false" flipV="false">
            <a:off x="1041400" y="3092538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4E9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574800" y="29718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workflow inverted · 工作流被反转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632200"/>
            <a:ext cx="10414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"the spec is the source of truth"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216400"/>
            <a:ext cx="889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9AA0"/>
                </a:solidFill>
                <a:latin typeface="Roboto Mono"/>
                <a:ea typeface="Roboto Mono"/>
                <a:cs typeface="Roboto Mono"/>
                <a:sym typeface="Roboto Mono"/>
              </a:rPr>
              <a:t>—— SDD 的信条：规格才是唯一真相源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4131" flipH="false" flipV="false">
            <a:off x="812804" y="4794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812800" y="5054600"/>
            <a:ext cx="10566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为什么会出现 SDD？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" y="5435600"/>
            <a:ext cx="10566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BEC2C8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 强大但不可预测，一句自然语言 prompt 是「有损」的，意图与约束在对话中不断丢失；走向生产后，</a:t>
            </a:r>
            <a:r>
              <a:rPr lang="en-US" b="fals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不可预测、难维护、难审计</a:t>
            </a:r>
            <a:r>
              <a:rPr lang="en-US" b="false" i="false" strike="noStrike" u="none" sz="1400">
                <a:solidFill>
                  <a:srgbClr val="BEC2C8"/>
                </a:solidFill>
                <a:latin typeface="Noto Sans SC"/>
                <a:ea typeface="Noto Sans SC"/>
                <a:cs typeface="Noto Sans SC"/>
                <a:sym typeface="Noto Sans SC"/>
              </a:rPr>
              <a:t>集中暴露。SDD 的回应是：先把「要什么」写成精确、可验证的规格，再让 AI 去实现。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0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02 / SDD · 内涵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508000"/>
            <a:ext cx="1219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07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87400" y="9906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SDD：规格而非代码是主要产物，代码只是规格的生成结果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695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930400"/>
            <a:ext cx="546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// DEFINITION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" y="2286000"/>
            <a:ext cx="546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45833"/>
              </a:lnSpc>
              <a:defRPr/>
            </a:pPr>
            <a:r>
              <a:rPr lang="en-US" b="false" i="false" strike="noStrike" u="none" sz="1300">
                <a:solidFill>
                  <a:srgbClr val="CDD0D5"/>
                </a:solidFill>
                <a:latin typeface="Noto Sans SC"/>
                <a:ea typeface="Noto Sans SC"/>
                <a:cs typeface="Noto Sans SC"/>
                <a:sym typeface="Noto Sans SC"/>
              </a:rPr>
              <a:t>面向 AI 编码 agent 的一种开发方法：结构化的规格说明——需求、场景、约束——而不是代码，才是项目的主要产物与</a:t>
            </a:r>
            <a:r>
              <a:rPr lang="en-US" b="false" i="false" strike="noStrike" u="none" sz="1300">
                <a:solidFill>
                  <a:srgbClr val="D4E92C"/>
                </a:solidFill>
                <a:latin typeface="Noto Sans SC"/>
                <a:ea typeface="Noto Sans SC"/>
                <a:cs typeface="Noto Sans SC"/>
                <a:sym typeface="Noto Sans SC"/>
              </a:rPr>
              <a:t>唯一事实来源</a:t>
            </a:r>
            <a:r>
              <a:rPr lang="en-US" b="false" i="false" strike="noStrike" u="none" sz="1300">
                <a:solidFill>
                  <a:srgbClr val="CDD0D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300">
                <a:solidFill>
                  <a:srgbClr val="CDD0D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300">
                <a:solidFill>
                  <a:srgbClr val="CDD0D5"/>
                </a:solidFill>
                <a:latin typeface="Noto Sans SC"/>
                <a:ea typeface="Noto Sans SC"/>
                <a:cs typeface="Noto Sans SC"/>
                <a:sym typeface="Noto Sans SC"/>
              </a:rPr>
              <a:t>先写规格，再由规格依次驱动计划、任务与实现；代码是规格的生成与验证产物。需求变化时，先改规格、再重新生成代码。</a:t>
            </a:r>
          </a:p>
        </p:txBody>
      </p:sp>
      <p:cxnSp>
        <p:nvCxnSpPr>
          <p:cNvPr name="Connector 8" id="8"/>
          <p:cNvCxnSpPr/>
          <p:nvPr/>
        </p:nvCxnSpPr>
        <p:spPr>
          <a:xfrm rot="5377677" flipH="false" flipV="false">
            <a:off x="5575300" y="2901971"/>
            <a:ext cx="195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807200" y="19304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// 三个核心主张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807200" y="23114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01　</a:t>
            </a: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规格先行　</a:t>
            </a:r>
            <a:r>
              <a:rPr lang="en-US" b="false" i="false" strike="noStrike" u="none" sz="13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动手前写清「做什么」与验收标准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807200" y="28956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02　</a:t>
            </a: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单一真相源　</a:t>
            </a:r>
            <a:r>
              <a:rPr lang="en-US" b="false" i="false" strike="noStrike" u="none" sz="13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需求、计划、任务、代码对齐同一 spec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807200" y="34798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03　</a:t>
            </a: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持续可演进　</a:t>
            </a:r>
            <a:r>
              <a:rPr lang="en-US" b="false" i="false" strike="noStrike" u="none" sz="13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规格纳入版本管理，变更可审计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131" flipH="false" flipV="false">
            <a:off x="812804" y="4184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812800" y="4368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// 工作流被反转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" y="4775200"/>
            <a:ext cx="660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VIBE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524000" y="4724400"/>
            <a:ext cx="1397000" cy="406400"/>
          </a:xfrm>
          <a:prstGeom prst="roundRect">
            <a:avLst>
              <a:gd name="adj" fmla="val 0"/>
            </a:avLst>
          </a:prstGeom>
          <a:solidFill>
            <a:srgbClr val="222228">
              <a:alpha val="100000"/>
            </a:srgbClr>
          </a:solidFill>
          <a:ln w="12700" cmpd="sng" cap="flat">
            <a:solidFill>
              <a:srgbClr val="46464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524000" y="4724400"/>
            <a:ext cx="1397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AAEB4"/>
                </a:solidFill>
                <a:latin typeface="Roboto Mono"/>
                <a:ea typeface="Roboto Mono"/>
                <a:cs typeface="Roboto Mono"/>
                <a:sym typeface="Roboto Mono"/>
              </a:rPr>
              <a:t>松散 prompt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245137" flipH="false" flipV="false">
            <a:off x="2972026" y="4921250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3200400" y="4724400"/>
            <a:ext cx="1498600" cy="406400"/>
          </a:xfrm>
          <a:prstGeom prst="roundRect">
            <a:avLst>
              <a:gd name="adj" fmla="val 0"/>
            </a:avLst>
          </a:prstGeom>
          <a:solidFill>
            <a:srgbClr val="222228">
              <a:alpha val="100000"/>
            </a:srgbClr>
          </a:solidFill>
          <a:ln w="12700" cmpd="sng" cap="flat">
            <a:solidFill>
              <a:srgbClr val="46464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200400" y="4724400"/>
            <a:ext cx="14986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AAEB4"/>
                </a:solidFill>
                <a:latin typeface="Roboto Mono"/>
                <a:ea typeface="Roboto Mono"/>
                <a:cs typeface="Roboto Mono"/>
                <a:sym typeface="Roboto Mono"/>
              </a:rPr>
              <a:t>AI 生成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245137" flipH="false" flipV="false">
            <a:off x="4750026" y="4921250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4978400" y="4724400"/>
            <a:ext cx="1905000" cy="406400"/>
          </a:xfrm>
          <a:prstGeom prst="roundRect">
            <a:avLst>
              <a:gd name="adj" fmla="val 0"/>
            </a:avLst>
          </a:prstGeom>
          <a:solidFill>
            <a:srgbClr val="282622">
              <a:alpha val="100000"/>
            </a:srgbClr>
          </a:solidFill>
          <a:ln w="12700" cmpd="sng" cap="flat">
            <a:solidFill>
              <a:srgbClr val="7A8B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978400" y="4724400"/>
            <a:ext cx="1905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代码 = 真相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061200" y="47752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A8F94"/>
                </a:solidFill>
                <a:latin typeface="Noto Sans SC"/>
                <a:ea typeface="Noto Sans SC"/>
                <a:cs typeface="Noto Sans SC"/>
                <a:sym typeface="Noto Sans SC"/>
              </a:rPr>
              <a:t>规格缺失，意图在来回对话中丢失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12800" y="5435600"/>
            <a:ext cx="660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SDD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524000" y="5384800"/>
            <a:ext cx="1092200" cy="406400"/>
          </a:xfrm>
          <a:prstGeom prst="roundRect">
            <a:avLst>
              <a:gd name="adj" fmla="val 0"/>
            </a:avLst>
          </a:prstGeom>
          <a:solidFill>
            <a:srgbClr val="262A18">
              <a:alpha val="100000"/>
            </a:srgbClr>
          </a:solidFill>
          <a:ln w="12700" cmpd="sng" cap="flat">
            <a:solidFill>
              <a:srgbClr val="7A8B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524000" y="5384800"/>
            <a:ext cx="1092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spec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245137" flipH="false" flipV="false">
            <a:off x="2667226" y="5581650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A8B2C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2895600" y="5384800"/>
            <a:ext cx="1041400" cy="406400"/>
          </a:xfrm>
          <a:prstGeom prst="roundRect">
            <a:avLst>
              <a:gd name="adj" fmla="val 0"/>
            </a:avLst>
          </a:prstGeom>
          <a:solidFill>
            <a:srgbClr val="202026">
              <a:alpha val="100000"/>
            </a:srgbClr>
          </a:solidFill>
          <a:ln w="12700" cmpd="sng" cap="flat">
            <a:solidFill>
              <a:srgbClr val="46464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2895600" y="5384800"/>
            <a:ext cx="10414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8CCD2"/>
                </a:solidFill>
                <a:latin typeface="Roboto Mono"/>
                <a:ea typeface="Roboto Mono"/>
                <a:cs typeface="Roboto Mono"/>
                <a:sym typeface="Roboto Mono"/>
              </a:rPr>
              <a:t>plan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-245137" flipH="false" flipV="false">
            <a:off x="3988026" y="5581650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A8B2C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32" id="32"/>
          <p:cNvSpPr/>
          <p:nvPr/>
        </p:nvSpPr>
        <p:spPr>
          <a:xfrm rot="0" flipH="false" flipV="false">
            <a:off x="4216400" y="5384800"/>
            <a:ext cx="1041400" cy="406400"/>
          </a:xfrm>
          <a:prstGeom prst="roundRect">
            <a:avLst>
              <a:gd name="adj" fmla="val 0"/>
            </a:avLst>
          </a:prstGeom>
          <a:solidFill>
            <a:srgbClr val="202026">
              <a:alpha val="100000"/>
            </a:srgbClr>
          </a:solidFill>
          <a:ln w="12700" cmpd="sng" cap="flat">
            <a:solidFill>
              <a:srgbClr val="46464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4216400" y="5384800"/>
            <a:ext cx="10414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8CCD2"/>
                </a:solidFill>
                <a:latin typeface="Roboto Mono"/>
                <a:ea typeface="Roboto Mono"/>
                <a:cs typeface="Roboto Mono"/>
                <a:sym typeface="Roboto Mono"/>
              </a:rPr>
              <a:t>tasks</a:t>
            </a:r>
            <a:endParaRPr lang="en-US" sz="1100"/>
          </a:p>
        </p:txBody>
      </p:sp>
      <p:cxnSp>
        <p:nvCxnSpPr>
          <p:cNvPr name="Connector 34" id="34"/>
          <p:cNvCxnSpPr/>
          <p:nvPr/>
        </p:nvCxnSpPr>
        <p:spPr>
          <a:xfrm rot="-245137" flipH="false" flipV="false">
            <a:off x="5308826" y="5581650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A8B2C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35" id="35"/>
          <p:cNvSpPr/>
          <p:nvPr/>
        </p:nvSpPr>
        <p:spPr>
          <a:xfrm rot="0" flipH="false" flipV="false">
            <a:off x="5537200" y="5384800"/>
            <a:ext cx="1651000" cy="406400"/>
          </a:xfrm>
          <a:prstGeom prst="roundRect">
            <a:avLst>
              <a:gd name="adj" fmla="val 0"/>
            </a:avLst>
          </a:prstGeom>
          <a:solidFill>
            <a:srgbClr val="222228">
              <a:alpha val="100000"/>
            </a:srgbClr>
          </a:solidFill>
          <a:ln w="12700" cmpd="sng" cap="flat">
            <a:solidFill>
              <a:srgbClr val="46464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5537200" y="5384800"/>
            <a:ext cx="165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AAEB4"/>
                </a:solidFill>
                <a:latin typeface="Roboto Mono"/>
                <a:ea typeface="Roboto Mono"/>
                <a:cs typeface="Roboto Mono"/>
                <a:sym typeface="Roboto Mono"/>
              </a:rPr>
              <a:t>代码 = 产物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7366000" y="5435600"/>
            <a:ext cx="4013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4E92C"/>
                </a:solidFill>
                <a:latin typeface="Noto Sans SC"/>
                <a:ea typeface="Noto Sans SC"/>
                <a:cs typeface="Noto Sans SC"/>
                <a:sym typeface="Noto Sans SC"/>
              </a:rPr>
              <a:t>规格是真相源，代码可随时重新生成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12800" y="6350000"/>
            <a:ext cx="10566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  <a:hlinkClick r:id="rId2" tooltip="https://github.blog/ai-and-ml/generative-ai/spec-driven-development-with-ai-get-started-with-a-new-open-source-toolki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Blog: Spec-driven development with AI（2025-09-02）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　|　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dev.to/bobbyblaine/spec-driven-development-write-the-spec-not-the-code-2p5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DEV: Write the Spec, Not the Code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0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02 / SDD · 核心流程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508000"/>
            <a:ext cx="1219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08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87400" y="9906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五段式流水线：先立宪、写规格，再让 agent 按任务实现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695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2006600"/>
            <a:ext cx="1930400" cy="2362200"/>
          </a:xfrm>
          <a:prstGeom prst="roundRect">
            <a:avLst>
              <a:gd name="adj" fmla="val 0"/>
            </a:avLst>
          </a:prstGeom>
          <a:solidFill>
            <a:srgbClr val="202026">
              <a:alpha val="100000"/>
            </a:srgbClr>
          </a:solidFill>
          <a:ln w="12700" cmpd="sng" cap="flat">
            <a:solidFill>
              <a:srgbClr val="34343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90600" y="2209800"/>
            <a:ext cx="1574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B2C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90600" y="2514600"/>
            <a:ext cx="157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constitution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90600" y="2844800"/>
            <a:ext cx="157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4E92C"/>
                </a:solidFill>
                <a:latin typeface="Noto Sans SC"/>
                <a:ea typeface="Noto Sans SC"/>
                <a:cs typeface="Noto Sans SC"/>
                <a:sym typeface="Noto Sans SC"/>
              </a:rPr>
              <a:t>立宪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90600" y="3200400"/>
            <a:ext cx="15748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定原则与技术栈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27723" flipH="false" flipV="false">
            <a:off x="990626" y="4057650"/>
            <a:ext cx="157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4343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990600" y="4140200"/>
            <a:ext cx="15748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→ constitution.md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971800" y="2006600"/>
            <a:ext cx="1930400" cy="2362200"/>
          </a:xfrm>
          <a:prstGeom prst="roundRect">
            <a:avLst>
              <a:gd name="adj" fmla="val 0"/>
            </a:avLst>
          </a:prstGeom>
          <a:solidFill>
            <a:srgbClr val="262A18">
              <a:alpha val="100000"/>
            </a:srgbClr>
          </a:solidFill>
          <a:ln w="12700" cmpd="sng" cap="flat">
            <a:solidFill>
              <a:srgbClr val="D4E9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149600" y="2209800"/>
            <a:ext cx="1574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149600" y="2514600"/>
            <a:ext cx="157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specify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149600" y="2844800"/>
            <a:ext cx="157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4E92C"/>
                </a:solidFill>
                <a:latin typeface="Noto Sans SC"/>
                <a:ea typeface="Noto Sans SC"/>
                <a:cs typeface="Noto Sans SC"/>
                <a:sym typeface="Noto Sans SC"/>
              </a:rPr>
              <a:t>写规格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149600" y="3200400"/>
            <a:ext cx="15748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8CCBE"/>
                </a:solidFill>
                <a:latin typeface="Noto Sans SC"/>
                <a:ea typeface="Noto Sans SC"/>
                <a:cs typeface="Noto Sans SC"/>
                <a:sym typeface="Noto Sans SC"/>
              </a:rPr>
              <a:t>写清需求与验收标准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27723" flipH="false" flipV="false">
            <a:off x="3149626" y="4057650"/>
            <a:ext cx="157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A643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3149600" y="4140200"/>
            <a:ext cx="15748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969A78"/>
                </a:solidFill>
                <a:latin typeface="Roboto Mono"/>
                <a:ea typeface="Roboto Mono"/>
                <a:cs typeface="Roboto Mono"/>
                <a:sym typeface="Roboto Mono"/>
              </a:rPr>
              <a:t>→ spec.md（核心）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130800" y="2006600"/>
            <a:ext cx="1930400" cy="2362200"/>
          </a:xfrm>
          <a:prstGeom prst="roundRect">
            <a:avLst>
              <a:gd name="adj" fmla="val 0"/>
            </a:avLst>
          </a:prstGeom>
          <a:solidFill>
            <a:srgbClr val="202026">
              <a:alpha val="100000"/>
            </a:srgbClr>
          </a:solidFill>
          <a:ln w="12700" cmpd="sng" cap="flat">
            <a:solidFill>
              <a:srgbClr val="34343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308600" y="2209800"/>
            <a:ext cx="1574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B2C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308600" y="2514600"/>
            <a:ext cx="157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plan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308600" y="2844800"/>
            <a:ext cx="157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4E92C"/>
                </a:solidFill>
                <a:latin typeface="Noto Sans SC"/>
                <a:ea typeface="Noto Sans SC"/>
                <a:cs typeface="Noto Sans SC"/>
                <a:sym typeface="Noto Sans SC"/>
              </a:rPr>
              <a:t>做计划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308600" y="3200400"/>
            <a:ext cx="15748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设计方案与路径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27723" flipH="false" flipV="false">
            <a:off x="5308626" y="4057650"/>
            <a:ext cx="157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4343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5308600" y="4140200"/>
            <a:ext cx="15748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→ plan.md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289800" y="2006600"/>
            <a:ext cx="1930400" cy="2362200"/>
          </a:xfrm>
          <a:prstGeom prst="roundRect">
            <a:avLst>
              <a:gd name="adj" fmla="val 0"/>
            </a:avLst>
          </a:prstGeom>
          <a:solidFill>
            <a:srgbClr val="202026">
              <a:alpha val="100000"/>
            </a:srgbClr>
          </a:solidFill>
          <a:ln w="12700" cmpd="sng" cap="flat">
            <a:solidFill>
              <a:srgbClr val="34343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467600" y="2209800"/>
            <a:ext cx="1574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B2C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467600" y="2514600"/>
            <a:ext cx="157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tasks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467600" y="2844800"/>
            <a:ext cx="157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4E92C"/>
                </a:solidFill>
                <a:latin typeface="Noto Sans SC"/>
                <a:ea typeface="Noto Sans SC"/>
                <a:cs typeface="Noto Sans SC"/>
                <a:sym typeface="Noto Sans SC"/>
              </a:rPr>
              <a:t>拆任务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467600" y="3200400"/>
            <a:ext cx="15748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拆解为原子任务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27723" flipH="false" flipV="false">
            <a:off x="7467626" y="4057650"/>
            <a:ext cx="157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4343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7467600" y="4140200"/>
            <a:ext cx="15748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→ tasks.md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448800" y="2006600"/>
            <a:ext cx="1930400" cy="2362200"/>
          </a:xfrm>
          <a:prstGeom prst="roundRect">
            <a:avLst>
              <a:gd name="adj" fmla="val 0"/>
            </a:avLst>
          </a:prstGeom>
          <a:solidFill>
            <a:srgbClr val="202026">
              <a:alpha val="100000"/>
            </a:srgbClr>
          </a:solidFill>
          <a:ln w="12700" cmpd="sng" cap="flat">
            <a:solidFill>
              <a:srgbClr val="34343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626600" y="2209800"/>
            <a:ext cx="1574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B2C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626600" y="2514600"/>
            <a:ext cx="157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implement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9626600" y="2844800"/>
            <a:ext cx="157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D4E92C"/>
                </a:solidFill>
                <a:latin typeface="Noto Sans SC"/>
                <a:ea typeface="Noto Sans SC"/>
                <a:cs typeface="Noto Sans SC"/>
                <a:sym typeface="Noto Sans SC"/>
              </a:rPr>
              <a:t>实现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9626600" y="3200400"/>
            <a:ext cx="15748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编码并对照规格验证</a:t>
            </a:r>
            <a:endParaRPr lang="en-US" sz="1100"/>
          </a:p>
        </p:txBody>
      </p:sp>
      <p:cxnSp>
        <p:nvCxnSpPr>
          <p:cNvPr name="Connector 39" id="39"/>
          <p:cNvCxnSpPr/>
          <p:nvPr/>
        </p:nvCxnSpPr>
        <p:spPr>
          <a:xfrm rot="-27723" flipH="false" flipV="false">
            <a:off x="9626626" y="4057650"/>
            <a:ext cx="157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4343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0" id="40"/>
          <p:cNvSpPr/>
          <p:nvPr/>
        </p:nvSpPr>
        <p:spPr>
          <a:xfrm rot="0" flipH="false" flipV="false">
            <a:off x="9626600" y="4140200"/>
            <a:ext cx="15748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→ working code</a:t>
            </a:r>
            <a:endParaRPr lang="en-US" sz="1100"/>
          </a:p>
        </p:txBody>
      </p:sp>
      <p:cxnSp>
        <p:nvCxnSpPr>
          <p:cNvPr name="Connector 41" id="41"/>
          <p:cNvCxnSpPr/>
          <p:nvPr/>
        </p:nvCxnSpPr>
        <p:spPr>
          <a:xfrm rot="-245137" flipH="false" flipV="false">
            <a:off x="2768826" y="3168650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A8B2C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42" id="42"/>
          <p:cNvCxnSpPr/>
          <p:nvPr/>
        </p:nvCxnSpPr>
        <p:spPr>
          <a:xfrm rot="-245137" flipH="false" flipV="false">
            <a:off x="4927826" y="3168650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A8B2C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43" id="43"/>
          <p:cNvCxnSpPr/>
          <p:nvPr/>
        </p:nvCxnSpPr>
        <p:spPr>
          <a:xfrm rot="-245137" flipH="false" flipV="false">
            <a:off x="7086826" y="3168650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A8B2C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44" id="44"/>
          <p:cNvCxnSpPr/>
          <p:nvPr/>
        </p:nvCxnSpPr>
        <p:spPr>
          <a:xfrm rot="-245137" flipH="false" flipV="false">
            <a:off x="9245826" y="3168650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A8B2C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45" id="45"/>
          <p:cNvCxnSpPr/>
          <p:nvPr/>
        </p:nvCxnSpPr>
        <p:spPr>
          <a:xfrm rot="-4131" flipH="false" flipV="false">
            <a:off x="812804" y="4718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6" id="46"/>
          <p:cNvSpPr/>
          <p:nvPr/>
        </p:nvSpPr>
        <p:spPr>
          <a:xfrm rot="0" flipH="false" flipV="false">
            <a:off x="812800" y="4927600"/>
            <a:ext cx="10566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// Kiro（AWS）三阶段：　</a:t>
            </a:r>
            <a:r>
              <a:rPr lang="en-US" b="false" i="false" strike="noStrike" u="none" sz="1300">
                <a:solidFill>
                  <a:srgbClr val="DCDEE2"/>
                </a:solidFill>
                <a:latin typeface="Roboto Mono"/>
                <a:ea typeface="Roboto Mono"/>
                <a:cs typeface="Roboto Mono"/>
                <a:sym typeface="Roboto Mono"/>
              </a:rPr>
              <a:t>requirements</a:t>
            </a:r>
            <a:r>
              <a:rPr lang="en-US" b="false" i="false" strike="noStrike" u="none" sz="13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 需求 → </a:t>
            </a:r>
            <a:r>
              <a:rPr lang="en-US" b="false" i="false" strike="noStrike" u="none" sz="1300">
                <a:solidFill>
                  <a:srgbClr val="DCDEE2"/>
                </a:solidFill>
                <a:latin typeface="Roboto Mono"/>
                <a:ea typeface="Roboto Mono"/>
                <a:cs typeface="Roboto Mono"/>
                <a:sym typeface="Roboto Mono"/>
              </a:rPr>
              <a:t>design</a:t>
            </a:r>
            <a:r>
              <a:rPr lang="en-US" b="false" i="false" strike="noStrike" u="none" sz="13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 设计 → </a:t>
            </a:r>
            <a:r>
              <a:rPr lang="en-US" b="false" i="false" strike="noStrike" u="none" sz="1300">
                <a:solidFill>
                  <a:srgbClr val="DCDEE2"/>
                </a:solidFill>
                <a:latin typeface="Roboto Mono"/>
                <a:ea typeface="Roboto Mono"/>
                <a:cs typeface="Roboto Mono"/>
                <a:sym typeface="Roboto Mono"/>
              </a:rPr>
              <a:t>tasks</a:t>
            </a:r>
            <a:r>
              <a:rPr lang="en-US" b="false" i="false" strike="noStrike" u="none" sz="1300">
                <a:solidFill>
                  <a:srgbClr val="969AA0"/>
                </a:solidFill>
                <a:latin typeface="Noto Sans SC"/>
                <a:ea typeface="Noto Sans SC"/>
                <a:cs typeface="Noto Sans SC"/>
                <a:sym typeface="Noto Sans SC"/>
              </a:rPr>
              <a:t> 任务，再由 agent 生成代码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812800" y="5461000"/>
            <a:ext cx="10566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↺ </a:t>
            </a: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规格持续存活：</a:t>
            </a:r>
            <a:r>
              <a:rPr lang="en-US" b="false" i="false" strike="noStrike" u="none" sz="1300">
                <a:solidFill>
                  <a:srgbClr val="BEC2C8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实现或运行中发现偏差，回到 spec 修改后重新生成，而不是绕开规格直接改代码——这正是它与 Vibe Coding 的根本区别。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812800" y="6350000"/>
            <a:ext cx="10566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  <a:hlinkClick r:id="rId2" tooltip="https://github.github.com/spec-ki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Spec Kit 官方文档（constitution / specify / plan / tasks / implement）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　|　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kiro.dev/docs/spec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Kiro Docs: Specs（requirements / design / tasks）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0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02 / SDD · 发展状态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508000"/>
            <a:ext cx="1219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09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87400" y="9906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2025 下半年集中落地：大厂 IDE 与开源工具链相继成型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695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981200"/>
            <a:ext cx="5080000" cy="3149600"/>
          </a:xfrm>
          <a:prstGeom prst="roundRect">
            <a:avLst>
              <a:gd name="adj" fmla="val 0"/>
            </a:avLst>
          </a:prstGeom>
          <a:solidFill>
            <a:srgbClr val="202026">
              <a:alpha val="100000"/>
            </a:srgbClr>
          </a:solidFill>
          <a:ln w="12700" cmpd="sng" cap="flat">
            <a:solidFill>
              <a:srgbClr val="34343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2209800"/>
            <a:ext cx="457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B2C"/>
                </a:solidFill>
                <a:latin typeface="Roboto Mono"/>
                <a:ea typeface="Roboto Mono"/>
                <a:cs typeface="Roboto Mono"/>
                <a:sym typeface="Roboto Mono"/>
              </a:rPr>
              <a:t>AWS · AGENTIC IDE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25146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Kiro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66800" y="2971800"/>
            <a:ext cx="457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AAEB4"/>
                </a:solidFill>
                <a:latin typeface="Noto Sans SC"/>
                <a:ea typeface="Noto Sans SC"/>
                <a:cs typeface="Noto Sans SC"/>
                <a:sym typeface="Noto Sans SC"/>
              </a:rPr>
              <a:t>首个围绕 SDD 构建的 agentic IDE，基于 Code OSS、接入 Amazon Bedrock。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9549" flipH="false" flipV="false">
            <a:off x="1066809" y="36004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4343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066800" y="37338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2025.07.14 预览　·　2025.11.17 GA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66800" y="4089400"/>
            <a:ext cx="457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·</a:t>
            </a:r>
            <a:r>
              <a:rPr lang="en-US" b="false" i="false" strike="noStrike" u="none" sz="1200">
                <a:solidFill>
                  <a:srgbClr val="C8CCD2"/>
                </a:solidFill>
                <a:latin typeface="Noto Sans SC"/>
                <a:ea typeface="Noto Sans SC"/>
                <a:cs typeface="Noto Sans SC"/>
                <a:sym typeface="Noto Sans SC"/>
              </a:rPr>
              <a:t> specs 内置 requirements / design / tasks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·</a:t>
            </a:r>
            <a:r>
              <a:rPr lang="en-US" b="false" i="false" strike="noStrike" u="none" sz="1200">
                <a:solidFill>
                  <a:srgbClr val="C8CCD2"/>
                </a:solidFill>
                <a:latin typeface="Noto Sans SC"/>
                <a:ea typeface="Noto Sans SC"/>
                <a:cs typeface="Noto Sans SC"/>
                <a:sym typeface="Noto Sans SC"/>
              </a:rPr>
              <a:t> hooks 自动串联生成、校验与任务推进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66800" y="4826000"/>
            <a:ext cx="457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// first spec-driven AI IDE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99200" y="1981200"/>
            <a:ext cx="5080000" cy="3149600"/>
          </a:xfrm>
          <a:prstGeom prst="roundRect">
            <a:avLst>
              <a:gd name="adj" fmla="val 0"/>
            </a:avLst>
          </a:prstGeom>
          <a:solidFill>
            <a:srgbClr val="262A18">
              <a:alpha val="100000"/>
            </a:srgbClr>
          </a:solidFill>
          <a:ln w="12700" cmpd="sng" cap="flat">
            <a:solidFill>
              <a:srgbClr val="7A8B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53200" y="2209800"/>
            <a:ext cx="457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GITHUB · OPEN SOURCE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53200" y="25146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Spec Kit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53200" y="2971800"/>
            <a:ext cx="457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8CCBE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官方开源 SDD 工具包，agent 无关，适配 30+ 编码工具。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549" flipH="false" flipV="false">
            <a:off x="6553209" y="36004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A643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553200" y="37338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2025.09.02 开源（官方博客同日）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53200" y="4089400"/>
            <a:ext cx="457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·</a:t>
            </a:r>
            <a:r>
              <a:rPr lang="en-US" b="false" i="false" strike="noStrike" u="none" sz="1200">
                <a:solidFill>
                  <a:srgbClr val="D6D8D2"/>
                </a:solidFill>
                <a:latin typeface="Noto Sans SC"/>
                <a:ea typeface="Noto Sans SC"/>
                <a:cs typeface="Noto Sans SC"/>
                <a:sym typeface="Noto Sans SC"/>
              </a:rPr>
              <a:t> 斜杠命令驱动 constitution→implement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·</a:t>
            </a:r>
            <a:r>
              <a:rPr lang="en-US" b="false" i="false" strike="noStrike" u="none" sz="1200">
                <a:solidFill>
                  <a:srgbClr val="D6D8D2"/>
                </a:solidFill>
                <a:latin typeface="Noto Sans SC"/>
                <a:ea typeface="Noto Sans SC"/>
                <a:cs typeface="Noto Sans SC"/>
                <a:sym typeface="Noto Sans SC"/>
              </a:rPr>
              <a:t> 适配 Copilot、Claude Code、Gemini、Cursor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553200" y="47752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130K+ stars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093200" y="48260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A78"/>
                </a:solidFill>
                <a:latin typeface="Roboto Mono"/>
                <a:ea typeface="Roboto Mono"/>
                <a:cs typeface="Roboto Mono"/>
                <a:sym typeface="Roboto Mono"/>
              </a:rPr>
              <a:t>270+ contributors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4131" flipH="false" flipV="false">
            <a:off x="812804" y="5378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812800" y="5562600"/>
            <a:ext cx="10566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// 生态　</a:t>
            </a:r>
            <a:r>
              <a:rPr lang="en-US" b="false" i="false" strike="noStrike" u="none" sz="1200">
                <a:solidFill>
                  <a:srgbClr val="BEC2C8"/>
                </a:solidFill>
                <a:latin typeface="Noto Sans SC"/>
                <a:ea typeface="Noto Sans SC"/>
                <a:cs typeface="Noto Sans SC"/>
                <a:sym typeface="Noto Sans SC"/>
              </a:rPr>
              <a:t>OpenSpec 面向棕地项目做 Delta 变更隔离、Tessl 等探索可执行规格，方法仍在快速演进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12800" y="5918200"/>
            <a:ext cx="10566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// 适用　</a:t>
            </a:r>
            <a:r>
              <a:rPr lang="en-US" b="false" i="false" strike="noStrike" u="none" sz="1200">
                <a:solidFill>
                  <a:srgbClr val="BEC2C8"/>
                </a:solidFill>
                <a:latin typeface="Noto Sans SC"/>
                <a:ea typeface="Noto Sans SC"/>
                <a:cs typeface="Noto Sans SC"/>
                <a:sym typeface="Noto Sans SC"/>
              </a:rPr>
              <a:t>生产级系统、团队协作、长期维护项目，以及需要可审计、可复现的场景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12800" y="6375400"/>
            <a:ext cx="10566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  <a:hlinkClick r:id="rId2" tooltip="https://kiro.dev/blog/general-availability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Kiro 官方博客（2025-11-17 GA；预览 2025-07-14）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　|　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github.github.com/spec-ki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Spec Kit 项目页（130K+ stars，截至 2026-09）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　|　</a:t>
            </a: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github.blog/ai-and-ml/generative-ai/spec-driven-development-with-ai-get-started-with-a-new-open-source-toolki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Blog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0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4E92C"/>
                </a:solidFill>
                <a:latin typeface="Roboto Mono"/>
                <a:ea typeface="Roboto Mono"/>
                <a:cs typeface="Roboto Mono"/>
                <a:sym typeface="Roboto Mono"/>
              </a:rPr>
              <a:t>03 / 对比与结论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508000"/>
            <a:ext cx="1219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10 / 10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87400" y="965200"/>
            <a:ext cx="1066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不是谁取代谁：原型靠 Vibe 求快，生产靠 SDD 求稳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2800" y="1625600"/>
          <a:ext cx="10566400" cy="2997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854200"/>
                <a:gridCol w="4356100"/>
                <a:gridCol w="4356100"/>
              </a:tblGrid>
              <a:tr h="381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D4E92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2C3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D4E9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VIBE CODING（方式）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2C3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D4E9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SDD（过程）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2C34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主要产物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229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C8CCD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能跑的应用、对不对的「感觉」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0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D6DCC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结构化规格 spec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271A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真相源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229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C8CCD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代码与运行结果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0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D6DCC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规格；代码只是生成产物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271A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人的角色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229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C8CCD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描述意图、验收效果，少读代码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0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D6DCC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写规格、做评审、按标准验收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271A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工作流程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229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C8CCD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描述→生成→运行→微调，松散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0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D6DCC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立宪→规格→计划→任务→实现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271A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最适合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229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C8CCD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原型、Demo、一次性工具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0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D6DCC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生产系统、团队协作、长期维护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271A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主要风险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2229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DC969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可维护性、安全、技术债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20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D6DCC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前期投入大，规格需持续维护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271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 rot="0" flipH="false" flipV="false">
            <a:off x="812800" y="4851400"/>
            <a:ext cx="10566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4E92C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结论：从 「forget the code」 到 「write the spec」，二者是同一光谱的两端，按项目阶段与风险取舍。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131" flipH="false" flipV="false">
            <a:off x="812804" y="5378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2E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812800" y="5537200"/>
            <a:ext cx="10566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787C84"/>
                </a:solidFill>
                <a:latin typeface="Noto Sans SC"/>
                <a:ea typeface="Noto Sans SC"/>
                <a:cs typeface="Noto Sans SC"/>
                <a:sym typeface="Noto Sans SC"/>
              </a:rPr>
              <a:t>资料来源：Karpathy 原帖（X, 2025-02-02）；</a:t>
            </a:r>
            <a:r>
              <a:rPr lang="en-US" b="false" i="false" strike="noStrike" u="none" sz="1000">
                <a:solidFill>
                  <a:srgbClr val="787C84"/>
                </a:solidFill>
                <a:latin typeface="Noto Sans SC"/>
                <a:ea typeface="Noto Sans SC"/>
                <a:cs typeface="Noto Sans SC"/>
                <a:sym typeface="Noto Sans SC"/>
                <a:hlinkClick r:id="rId2" tooltip="https://www.collinsdictionary.com/wo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Collins Dictionary WOTY 2025</a:t>
            </a:r>
            <a:r>
              <a:rPr lang="en-US" b="false" i="false" strike="noStrike" u="none" sz="1000">
                <a:solidFill>
                  <a:srgbClr val="787C84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r>
              <a:rPr lang="en-US" b="false" i="false" strike="noStrike" u="none" sz="1000">
                <a:solidFill>
                  <a:srgbClr val="787C84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survey.stackoverflow.co/2025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Stack Overflow Developer Survey 2025</a:t>
            </a:r>
            <a:r>
              <a:rPr lang="en-US" b="false" i="false" strike="noStrike" u="none" sz="1000">
                <a:solidFill>
                  <a:srgbClr val="787C84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r>
              <a:rPr lang="en-US" b="false" i="false" strike="noStrike" u="none" sz="1000">
                <a:solidFill>
                  <a:srgbClr val="787C84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www.martinfowler.com/bliki/VibeCoding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Martin Fowler: VibeCoding</a:t>
            </a:r>
            <a:r>
              <a:rPr lang="en-US" b="false" i="false" strike="noStrike" u="none" sz="1000">
                <a:solidFill>
                  <a:srgbClr val="787C84"/>
                </a:solidFill>
                <a:latin typeface="Noto Sans SC"/>
                <a:ea typeface="Noto Sans SC"/>
                <a:cs typeface="Noto Sans SC"/>
                <a:sym typeface="Noto Sans SC"/>
              </a:rPr>
              <a:t>；CVE-2025-48757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787C84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https://github.blog/ai-and-ml/generative-ai/spec-driven-development-with-ai-get-started-with-a-new-open-source-toolki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Blog: Spec-driven development（2025-09-02）</a:t>
            </a:r>
            <a:r>
              <a:rPr lang="en-US" b="false" i="false" strike="noStrike" u="none" sz="1000">
                <a:solidFill>
                  <a:srgbClr val="787C84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r>
              <a:rPr lang="en-US" b="false" i="false" strike="noStrike" u="none" sz="1000">
                <a:solidFill>
                  <a:srgbClr val="787C84"/>
                </a:solidFill>
                <a:latin typeface="Noto Sans SC"/>
                <a:ea typeface="Noto Sans SC"/>
                <a:cs typeface="Noto Sans SC"/>
                <a:sym typeface="Noto Sans SC"/>
                <a:hlinkClick r:id="rId6" tooltip="https://github.github.com/spec-kit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Spec Kit 项目页</a:t>
            </a:r>
            <a:r>
              <a:rPr lang="en-US" b="false" i="false" strike="noStrike" u="none" sz="1000">
                <a:solidFill>
                  <a:srgbClr val="787C84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r>
              <a:rPr lang="en-US" b="false" i="false" strike="noStrike" u="none" sz="1000">
                <a:solidFill>
                  <a:srgbClr val="787C84"/>
                </a:solidFill>
                <a:latin typeface="Noto Sans SC"/>
                <a:ea typeface="Noto Sans SC"/>
                <a:cs typeface="Noto Sans SC"/>
                <a:sym typeface="Noto Sans SC"/>
                <a:hlinkClick r:id="rId7" tooltip="https://kiro.dev/docs/spec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Kiro 官方文档与博客</a:t>
            </a:r>
            <a:r>
              <a:rPr lang="en-US" b="false" i="false" strike="noStrike" u="none" sz="1000">
                <a:solidFill>
                  <a:srgbClr val="787C84"/>
                </a:solidFill>
                <a:latin typeface="Noto Sans SC"/>
                <a:ea typeface="Noto Sans SC"/>
                <a:cs typeface="Noto Sans SC"/>
                <a:sym typeface="Noto Sans SC"/>
              </a:rPr>
              <a:t>；Google Cloud / Cloudflare 释义页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