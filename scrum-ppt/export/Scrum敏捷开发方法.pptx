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介绍的是教材3.2.3节的Scrum敏捷开发方法。Scrum这个词来自英式橄榄球运动中的“争球”，它是目前业界应用最广的敏捷项目管理框架之一。接下来五分钟，我会依次讲清楚四个问题：Scrum是什么、它怎样运转、有哪些角色和活动、一个具体例子，以及它适合什么场景、有哪些局限和常见误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认识Scrum之前，先看一个长期存在的老问题。传统瀑布式开发像接力赛，需求、设计、编码、测试依次进行，前期就要把需求定死。它有三个典型痛点：一是交付即跑偏，几个月后做出来的东西已经不是用户想要的；二是集成和测试全压在末期，风险集中爆发；三是在软件跑起来之前进度无法度量，等问题暴露已经来不及。于是自然产生一个追问：能不能把项目切成小段，每段都交付可用软件、随时校准？这正是Scrum要回答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crum这个词来自英式橄榄球的“争球”，寓意团队像橄榄球队一样角色明确、目标一致地协同推进。它是20世纪90年代中期出现的一种敏捷方法，核心做法是把开发拆成一串1到4周的短迭代，叫做冲刺，每个冲刺结束都要交出一个真正可用的产品增量。它针对性地解决三个问题：需求变化快，每个冲刺都是一次校准窗口；进度不透明，就用完成的增量来度量；价值交付晚，就从第一个冲刺开始小步交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这是教材中的图3.11，展示了Scrum的完整运转主线。最左边是产品订单库Backlog，它是按优先级排序的全部需求清单；团队从中挑出本次冲刺能完成的一部分，形成冲刺订单库Sprint Backlog；随后进入1到4周的冲刺开发，期间每天开短会同步进展；冲刺结束交付一块可运行的软件产品，并集成进整体产品；然后循环进入下一个冲刺。请大家特别注意这个环形箭头——Scrum不是一次性的直线过程，而是一圈一圈持续累加产品增量的循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Scrum团队只有三类角色。第一，产品拥有者Product Owner，决定“做什么”，他创建并维护产品订单库Backlog，描述需求、排出优先级。第二，敏捷教练Scrum Master，注意他不是项目经理、不负责派活，而是流程的守护者，是仆人式引导者，组织会议、筛选本次冲刺要实现的需求、帮团队排除障碍。第三，开发团队，一般5到9人，跨职能、自组织，在冲刺里自行完成设计、编码和测试，每天同步进展。一句话分工：产品拥有者管做什么，开发团队管怎么做，敏捷教练管让团队顺畅地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冲刺内部有四个标准活动，撑起整个迭代闭环。第一，冲刺首日开计划会，从产品订单库挑出本次能完成的需求，形成冲刺订单库，定下冲刺目标。第二，冲刺期间每天开15分钟站会，每人只讲三句：昨天完成了什么、今天计划做什么、遇到什么障碍。第三，冲刺最后一天开评审会，向产品拥有者演示真正可运行的增量，共同审查功能是否达成、收集反馈。第四，评审之后开回顾会，复盘协作流程、定下改进项。随后进入下一个冲刺，团队就这样一圈一圈持续改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用一个教学虚构的例子走一遍。假设要做一个校园二手交易App，产品拥有者先把需求按价值排出Backlog：注册登录、商品发布、浏览搜索、下单交易、聊天、评价。团队两周一个冲刺。冲刺一，从清单顶部挑走进注册登录、发布和浏览，两周后交出一个能发布、能浏览的可运行版本，评审会上收集反馈。冲刺二做下单交易，跑通交易闭环。冲刺三做聊天和评价，产品完整。关键有两点：每个冲刺交付的都是可运行的增量；如果中途用户想法变化，没做的需求只需在Backlog里重排优先级，下一个冲刺再响应，不需要推翻整个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什么时候该用Scrum？主要有四类场景：需求不确定、容易变化的项目；5到9人、跨职能、能够自组织的团队；软件可以拆成增量、用户能分批验收；以及客户愿意持续参与和反馈。它的优势也由此而来：第一，尽早交付可用软件，最有价值的功能最先上线，客户满意度高；第二，进度透明，用完成的增量说话，风险在每个短周期就暴露；第三，拥抱变化，每个冲刺都能校准方向，不必推翻全局；第四，自组织加上每日站会，团队协作更高效、责任感和士气更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crum不是万能药，要先看清边界。两类情况它并不合适：一是需求高度确定、强合规的关键系统，比如航天、医疗，它们强调前期完整规格和严格认证，变更空间很小，预测型过程更合适；二是它对团队能力和纪律要求高，自组织不等于无管理。实践中还有三个高频误区：第一，以为每天开个站会就是Scrum，其实站会只是形式，核心是固定冲刺加可交付增量；第二，冲刺中途随意插需求，这会打乱节奏，新需求应该进Backlog等下一冲刺；第三，把Scrum Master当成派活的项目经理，他真正的职责是引导流程、服务团队、排除障碍。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回到开头的问题：能不能把大项目切成短周期、每段交付可用软件并随时校准？Scrum的回答是肯定的——它用固定节奏的冲刺，把大项目拆成可交付的小增量，靠透明和反馈驾驭变化。记住四组关键词就记住了Scrum：一条主线，从订单库到冲刺再到产品增量；三个角色，产品拥有者、敏捷教练、开发团队；四个活动，计划会、每日站会、评审会、回顾会；还有一条边界，需求越不确定Scrum越有价值，只学形式、不变文化则必然失效。我的介绍到此结束，谢谢大家，欢迎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notesSlides/notesSlide8.xml" Type="http://schemas.openxmlformats.org/officeDocument/2006/relationships/notesSlid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812800" y="1498600"/>
            <a:ext cx="609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软件工程 · 敏捷开发方法（3.2.3）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87400" y="1930400"/>
            <a:ext cx="6604000" cy="863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Scrum 敏捷开发方法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12800" y="2997200"/>
            <a:ext cx="7112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12800" y="3251200"/>
            <a:ext cx="57404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6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以固定节奏的短冲刺，把项目切成可交付的小增量，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在透明与持续反馈中拥抱需求变化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" y="5689600"/>
            <a:ext cx="609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15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教材章节：第 3 章 软件过程模型和开发方法 · 3.2.3 Scrum 方法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5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　　　　　　班级：　　　　　　日期：　　　　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 · 为什么需要 SCRUM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8636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需求总在变，为什么软件项目还是频频失控？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131" flipH="false" flipV="false">
            <a:off x="812804" y="1593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12800" y="1905000"/>
            <a:ext cx="762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625600" y="1905000"/>
            <a:ext cx="939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需求前期定死，交付即跑偏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625600" y="2260600"/>
            <a:ext cx="9550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瀑布式开发要求前期花数月冻结需求、写尽文档，直到末期才交付；此时成果往往与用户真实需要相去甚远。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131" flipH="false" flipV="false">
            <a:off x="812804" y="2940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812800" y="3098800"/>
            <a:ext cx="762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25600" y="3098800"/>
            <a:ext cx="939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集成拖到最后，风险集中爆发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625600" y="3454400"/>
            <a:ext cx="9550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编码、集成与测试长期分离，对接和缺陷被压到项目末期才暴露，返工代价大，一处延期往往拖垮全局。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131" flipH="false" flipV="false">
            <a:off x="812804" y="4133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812800" y="4292600"/>
            <a:ext cx="762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625600" y="4292600"/>
            <a:ext cx="939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进度长期不可见，失控难以挽回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625600" y="4648200"/>
            <a:ext cx="9550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可运行软件出现之前，真实进度无法度量；等延期和超预算暴露时，项目往往已经没有调整空间。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0" y="5435600"/>
            <a:ext cx="12192000" cy="14224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87400" y="57912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524000" y="5664200"/>
            <a:ext cx="9906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关键追问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524000" y="5969000"/>
            <a:ext cx="990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能不能把大项目切成一段段短周期，每段都交付可运行的软件，并依据反馈随时校准方向？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02 · 方法是什么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8636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Scrum：用固定长度的“冲刺”迭代交付产品增量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131" flipH="false" flipV="false">
            <a:off x="812804" y="1593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12800" y="18796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词源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12800" y="2260600"/>
            <a:ext cx="38100" cy="7366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235200"/>
            <a:ext cx="574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Scrum 是英式橄榄球术语“争球”。团队如同橄榄球队：每个人角色明确、分工清晰，目标一致、高效协作地向前推进。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" y="33274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定义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" y="3708400"/>
            <a:ext cx="38100" cy="1524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657600"/>
            <a:ext cx="5740400" cy="167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fals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产生于 20 世纪 90 年代中期的一种敏捷方法，以</a:t>
            </a:r>
            <a:r>
              <a:rPr lang="en-US" b="tru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增量和迭代</a:t>
            </a:r>
            <a:r>
              <a:rPr lang="en-US" b="fals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方式管理软件项目：开发被拆成一串固定长度（</a:t>
            </a:r>
            <a:r>
              <a:rPr lang="en-US" b="tru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1~4 周</a:t>
            </a:r>
            <a:r>
              <a:rPr lang="en-US" b="fals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）的短迭代——</a:t>
            </a:r>
            <a:r>
              <a:rPr lang="en-US" b="tru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冲刺（Sprint）</a:t>
            </a:r>
            <a:r>
              <a:rPr lang="en-US" b="fals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，每个冲刺都交付一个“完成的、可用的”产品增量。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389519" flipH="false" flipV="false">
            <a:off x="5130800" y="3981460"/>
            <a:ext cx="416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518400" y="18796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它解决什么问题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518400" y="2336800"/>
            <a:ext cx="279400" cy="279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7924800" y="2311400"/>
            <a:ext cx="3505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需求变化快，计划追不上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4800" y="2641600"/>
            <a:ext cx="3505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每个冲刺都是反馈与校准窗口，新变化在下一冲刺即可被接纳。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518400" y="3556000"/>
            <a:ext cx="279400" cy="279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924800" y="3530600"/>
            <a:ext cx="3505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进度不透明，风险发现晚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4800" y="3860800"/>
            <a:ext cx="3505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每段都产出可运行软件，进度用“真正完成的功能”来度量。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518400" y="4775200"/>
            <a:ext cx="279400" cy="279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924800" y="4749800"/>
            <a:ext cx="3505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价值交付晚，用户等不起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4800" y="5080000"/>
            <a:ext cx="3505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小步快跑，从最早的冲刺起就持续交付可用价值。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2800" y="64770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969EAA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来源：《软件工程》教材 3.2.3 Scrum 方法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617200" y="6477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969EAA"/>
                </a:solidFill>
                <a:latin typeface="Noto Sans SC"/>
                <a:ea typeface="Noto Sans SC"/>
                <a:cs typeface="Noto Sans SC"/>
                <a:sym typeface="Noto Sans SC"/>
              </a:rPr>
              <a:t>03 / 10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核心机制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8636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运转主线：订单库 → 冲刺开发 → 产品增量，循环往复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131" flipH="false" flipV="false">
            <a:off x="812804" y="1593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11200" y="1828800"/>
            <a:ext cx="10769600" cy="3098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4E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89000" y="2006600"/>
            <a:ext cx="10414000" cy="27432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812800" y="51308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这张图怎么读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" y="5435600"/>
            <a:ext cx="105664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7500"/>
              </a:lnSpc>
              <a:defRPr/>
            </a:pPr>
            <a:r>
              <a:rPr lang="en-US" b="tru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Backlog</a:t>
            </a:r>
            <a:r>
              <a:rPr lang="en-US" b="fals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 是按优先级排列的全部需求；团队选出本次冲刺能完成的部分形成 </a:t>
            </a:r>
            <a:r>
              <a:rPr lang="en-US" b="tru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Sprint Backlog</a:t>
            </a:r>
            <a:r>
              <a:rPr lang="en-US" b="fals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；经 </a:t>
            </a:r>
            <a:r>
              <a:rPr lang="en-US" b="tru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1~4 周</a:t>
            </a:r>
            <a:r>
              <a:rPr lang="en-US" b="fals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冲刺开发交付可运行的产品增量并集成进产品，随后</a:t>
            </a:r>
            <a:r>
              <a:rPr lang="en-US" b="tru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循环进入下一个冲刺</a:t>
            </a:r>
            <a:r>
              <a:rPr lang="en-US" b="false" i="false" strike="noStrike" u="none" sz="14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——Scrum 不是一次性直线，而是一圈圈累加增量的循环。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" y="64770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969EAA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来源：《软件工程》教材 图 3.11 Scrum 方法的软件开发流程示意图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17200" y="6477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969EAA"/>
                </a:solidFill>
                <a:latin typeface="Noto Sans SC"/>
                <a:ea typeface="Noto Sans SC"/>
                <a:cs typeface="Noto Sans SC"/>
                <a:sym typeface="Noto Sans SC"/>
              </a:rPr>
              <a:t>04 / 10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04 · 关键角色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8636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三类角色各司其职：谁定方向、谁护流程、谁做产品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131" flipH="false" flipV="false">
            <a:off x="812804" y="1593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12800" y="20574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9304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产品拥有者　</a:t>
            </a: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Product Owner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524000" y="23114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决定“做什么”，对产品价值负责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588000" y="1905000"/>
            <a:ext cx="57912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创建并维护产品订单库 Backlog，描述产品需要提供的功能需求、排出优先级，明确每次迭代发布的版本。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131" flipH="false" flipV="false">
            <a:off x="812804" y="2965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12800" y="32766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1496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敏捷教练　</a:t>
            </a: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Scrum Master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35306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守护流程、排除障碍的“仆人式引导者”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588000" y="3124200"/>
            <a:ext cx="57912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按优先级筛选最应实现的需求形成冲刺订单库 Sprint Backlog，组织每日 Scrum 会议与评审，保障流程运转、为团队扫清障碍。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4131" flipH="false" flipV="false">
            <a:off x="812804" y="4184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12800" y="44958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524000" y="43688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开发团队　</a:t>
            </a: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Development Team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524000" y="4749800"/>
            <a:ext cx="381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真正做出增量的人，跨职能、自组织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588000" y="4343400"/>
            <a:ext cx="57912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5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一般 5~9 人，在冲刺内自行完成软件设计、编码实现与测试；每天同步进展与困难，共同对交付成果负责。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4131" flipH="false" flipV="false">
            <a:off x="812804" y="5556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12800" y="5715000"/>
            <a:ext cx="254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一句话分工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800" y="5994400"/>
            <a:ext cx="10566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产品拥有者管“做什么”，开发团队管“怎么做”，敏捷教练管“让团队顺畅地做”。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2800" y="64770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969EAA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来源：《软件工程》教材 3.2.3 Scrum 方法（角色职责）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617200" y="6477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969EAA"/>
                </a:solidFill>
                <a:latin typeface="Noto Sans SC"/>
                <a:ea typeface="Noto Sans SC"/>
                <a:cs typeface="Noto Sans SC"/>
                <a:sym typeface="Noto Sans SC"/>
              </a:rPr>
              <a:t>05 / 10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05 · 关键实践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8636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一个冲刺里发生什么：四个活动撑起迭代闭环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131" flipH="false" flipV="false">
            <a:off x="812804" y="1593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5386777" flipH="false" flipV="false">
            <a:off x="431800" y="3575062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FC9D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981200" y="1955800"/>
            <a:ext cx="203200" cy="203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solidFill>
              <a:srgbClr val="F2F4F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11200" y="1905000"/>
            <a:ext cx="1168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冲刺首日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362200" y="18669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870200" y="18415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冲刺计划会　</a:t>
            </a:r>
            <a:r>
              <a:rPr lang="en-US" b="true" i="false" strike="noStrike" u="none" sz="115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Sprint Planning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870200" y="2171700"/>
            <a:ext cx="812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5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从 Backlog 挑选本次冲刺能完成的需求，形成 Sprint Backlog，定下冲刺目标。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981200" y="2971800"/>
            <a:ext cx="203200" cy="203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solidFill>
              <a:srgbClr val="F2F4F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11200" y="2921000"/>
            <a:ext cx="1168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每天 15 分钟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362200" y="28829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2870200" y="28575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每日站会　</a:t>
            </a:r>
            <a:r>
              <a:rPr lang="en-US" b="true" i="false" strike="noStrike" u="none" sz="115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Daily Scrum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870200" y="3187700"/>
            <a:ext cx="812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5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每人只讲三件事：昨天完成了什么、今天计划做什么、遇到了什么困难和障碍。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981200" y="3987800"/>
            <a:ext cx="203200" cy="203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solidFill>
              <a:srgbClr val="F2F4F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11200" y="3937000"/>
            <a:ext cx="1168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冲刺末日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2362200" y="38989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2870200" y="38735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冲刺评审会　</a:t>
            </a:r>
            <a:r>
              <a:rPr lang="en-US" b="true" i="false" strike="noStrike" u="none" sz="115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Sprint Review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870200" y="4203700"/>
            <a:ext cx="812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5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演示可运行的产品增量，共同审查是否高质量实现既定功能，并收集反馈。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981200" y="5003800"/>
            <a:ext cx="203200" cy="203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solidFill>
              <a:srgbClr val="F2F4F8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11200" y="4953000"/>
            <a:ext cx="1168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评审之后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2362200" y="4914900"/>
            <a:ext cx="355600" cy="355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2870200" y="48895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冲刺回顾会　</a:t>
            </a:r>
            <a:r>
              <a:rPr lang="en-US" b="true" i="false" strike="noStrike" u="none" sz="115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Retrospective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870200" y="5219700"/>
            <a:ext cx="8128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35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复盘协作与流程：哪些做得好、哪些要改进，形成下一个冲刺的改进项。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12800" y="64770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969EAA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来源：《软件工程》教材 3.2.3（每日 Scrum 会议、Scrum 评审与反思）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617200" y="6477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969EAA"/>
                </a:solidFill>
                <a:latin typeface="Noto Sans SC"/>
                <a:ea typeface="Noto Sans SC"/>
                <a:cs typeface="Noto Sans SC"/>
                <a:sym typeface="Noto Sans SC"/>
              </a:rPr>
              <a:t>06 / 10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06 · 具体例子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636000" y="533400"/>
            <a:ext cx="2743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969EAA"/>
                </a:solidFill>
                <a:latin typeface="Noto Sans SC"/>
                <a:ea typeface="Noto Sans SC"/>
                <a:cs typeface="Noto Sans SC"/>
                <a:sym typeface="Noto Sans SC"/>
              </a:rPr>
              <a:t>示例场景（教学虚构）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87400" y="8636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走一遍：校园二手交易 App 的三个冲刺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593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8542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产品订单库 BACKLOG（按优先级）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" y="2387600"/>
            <a:ext cx="101600" cy="1016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22860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1. 注册登录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" y="2819400"/>
            <a:ext cx="101600" cy="1016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27178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2. 商品发布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" y="3251200"/>
            <a:ext cx="101600" cy="1016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41400" y="3149600"/>
            <a:ext cx="279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283040"/>
                </a:solidFill>
                <a:latin typeface="Noto Sans SC"/>
                <a:ea typeface="Noto Sans SC"/>
                <a:cs typeface="Noto Sans SC"/>
                <a:sym typeface="Noto Sans SC"/>
              </a:rPr>
              <a:t>3. 商品浏览与搜索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" y="3683000"/>
            <a:ext cx="101600" cy="101600"/>
          </a:xfrm>
          <a:prstGeom prst="roundRect">
            <a:avLst>
              <a:gd name="adj" fmla="val 0"/>
            </a:avLst>
          </a:prstGeom>
          <a:solidFill>
            <a:srgbClr val="BFC9D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41400" y="35814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8808E"/>
                </a:solidFill>
                <a:latin typeface="Noto Sans SC"/>
                <a:ea typeface="Noto Sans SC"/>
                <a:cs typeface="Noto Sans SC"/>
                <a:sym typeface="Noto Sans SC"/>
              </a:rPr>
              <a:t>4. 下单与交易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" y="4114800"/>
            <a:ext cx="101600" cy="101600"/>
          </a:xfrm>
          <a:prstGeom prst="roundRect">
            <a:avLst>
              <a:gd name="adj" fmla="val 0"/>
            </a:avLst>
          </a:prstGeom>
          <a:solidFill>
            <a:srgbClr val="BFC9D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41400" y="40132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8808E"/>
                </a:solidFill>
                <a:latin typeface="Noto Sans SC"/>
                <a:ea typeface="Noto Sans SC"/>
                <a:cs typeface="Noto Sans SC"/>
                <a:sym typeface="Noto Sans SC"/>
              </a:rPr>
              <a:t>5. 在线聊天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" y="4546600"/>
            <a:ext cx="101600" cy="101600"/>
          </a:xfrm>
          <a:prstGeom prst="roundRect">
            <a:avLst>
              <a:gd name="adj" fmla="val 0"/>
            </a:avLst>
          </a:prstGeom>
          <a:solidFill>
            <a:srgbClr val="BFC9D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41400" y="44450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8808E"/>
                </a:solidFill>
                <a:latin typeface="Noto Sans SC"/>
                <a:ea typeface="Noto Sans SC"/>
                <a:cs typeface="Noto Sans SC"/>
                <a:sym typeface="Noto Sans SC"/>
              </a:rPr>
              <a:t>6. 评价系统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" y="5003800"/>
            <a:ext cx="29464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78808E"/>
                </a:solidFill>
                <a:latin typeface="Noto Sans SC"/>
                <a:ea typeface="Noto Sans SC"/>
                <a:cs typeface="Noto Sans SC"/>
                <a:sym typeface="Noto Sans SC"/>
              </a:rPr>
              <a:t>Backlog 持续增删；每个冲刺初，团队按容量从顶部选取。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5388226" flipH="false" flipV="false">
            <a:off x="2184400" y="3727461"/>
            <a:ext cx="3708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4394200" y="1981200"/>
            <a:ext cx="508000" cy="508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394200" y="2070100"/>
            <a:ext cx="50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S1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105400" y="19812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冲刺 1 · 第 1~2 周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105400" y="2311400"/>
            <a:ext cx="622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纳入：注册登录、商品发布、商品浏览与搜索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105400" y="2616200"/>
            <a:ext cx="622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交付：能发布、能浏览搜索的可运行版本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6250" flipH="false" flipV="false">
            <a:off x="4394206" y="3117850"/>
            <a:ext cx="698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4394200" y="3302000"/>
            <a:ext cx="508000" cy="508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394200" y="3390900"/>
            <a:ext cx="50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S2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105400" y="33020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冲刺 2 · 第 3~4 周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105400" y="3632200"/>
            <a:ext cx="622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纳入：下单与交易、订单管理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105400" y="3937000"/>
            <a:ext cx="622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交付：跑通完整交易闭环的新版本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6250" flipH="false" flipV="false">
            <a:off x="4394206" y="4438650"/>
            <a:ext cx="698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4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4394200" y="4622800"/>
            <a:ext cx="508000" cy="5080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4394200" y="4711700"/>
            <a:ext cx="50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S3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105400" y="46228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冲刺 3 · 第 5~6 周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5105400" y="4953000"/>
            <a:ext cx="622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纳入：在线聊天、评价系统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5105400" y="5257800"/>
            <a:ext cx="6223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交付：功能完整的校园二手交易产品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12800" y="5791200"/>
            <a:ext cx="10566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08E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每个冲刺结束，增量都集成进产品；若用户反馈变化，未做的需求只需在 Backlog 中重排优先级，由下一冲刺响应。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10617200" y="6477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969EAA"/>
                </a:solidFill>
                <a:latin typeface="Noto Sans SC"/>
                <a:ea typeface="Noto Sans SC"/>
                <a:cs typeface="Noto Sans SC"/>
                <a:sym typeface="Noto Sans SC"/>
              </a:rPr>
              <a:t>07 / 10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07 · 适用场景与优势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8636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什么时候用 Scrum？它到底好在哪里？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131" flipH="false" flipV="false">
            <a:off x="812804" y="1593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12800" y="18542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12800" y="2336800"/>
            <a:ext cx="279400" cy="279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44600" y="2311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需求不确定、容易变化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44600" y="2641600"/>
            <a:ext cx="4267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互联网产品、新业务探索等方向尚不明朗的项目。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12800" y="3251200"/>
            <a:ext cx="279400" cy="279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44600" y="32258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跨职能、可自组织的小团队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44600" y="3556000"/>
            <a:ext cx="4267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约 5~9 人，开发、测试等能力齐备，能独立交付增量。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12800" y="4165600"/>
            <a:ext cx="279400" cy="279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244600" y="41402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软件可拆分、可分批验收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44600" y="4470400"/>
            <a:ext cx="4267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系统能切成一块块增量，用户可逐批试用和确认。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12800" y="5080000"/>
            <a:ext cx="279400" cy="279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244600" y="50546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用户愿意持续参与反馈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244600" y="5384800"/>
            <a:ext cx="4267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客户或用户代表能全程参与，频繁提供业务反馈。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389323" flipH="false" flipV="false">
            <a:off x="3924300" y="3943360"/>
            <a:ext cx="408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273800" y="18542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优势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273800" y="2336800"/>
            <a:ext cx="279400" cy="279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705600" y="23114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尽早交付价值，满意度更高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705600" y="2641600"/>
            <a:ext cx="4521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每个冲刺都产出可用软件，最有价值的功能最先上线。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273800" y="3251200"/>
            <a:ext cx="279400" cy="279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705600" y="32258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进度透明，风险早暴露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705600" y="3556000"/>
            <a:ext cx="4521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以“完成的增量”度量进度，问题在短周期内即被发现。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273800" y="4165600"/>
            <a:ext cx="279400" cy="279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6705600" y="41402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从容拥抱变化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705600" y="4470400"/>
            <a:ext cx="4521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每个冲刺都是校准方向的机会，不必推翻整个项目计划。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273800" y="5080000"/>
            <a:ext cx="279400" cy="2794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6705600" y="50546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团队高效、责任感强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705600" y="5384800"/>
            <a:ext cx="4521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自组织加每日同步，减少等待与推诿，团队士气更高。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12800" y="64770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969EAA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来源：《软件工程》教材 3.2 敏捷方法特点与应用，并结合 Scrum 通用实践整理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10617200" y="6477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969EAA"/>
                </a:solidFill>
                <a:latin typeface="Noto Sans SC"/>
                <a:ea typeface="Noto Sans SC"/>
                <a:cs typeface="Noto Sans SC"/>
                <a:sym typeface="Noto Sans SC"/>
              </a:rPr>
              <a:t>08 / 10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0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08 · 局限与常见误区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863600"/>
            <a:ext cx="1066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Scrum 不是万能药：先看清边界，再避开误区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131" flipH="false" flipV="false">
            <a:off x="812804" y="1593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12800" y="1803400"/>
            <a:ext cx="254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它的边界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12800" y="2235200"/>
            <a:ext cx="279400" cy="279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44600" y="22098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不适合需求高度确定、强合规的关键系统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44600" y="2540000"/>
            <a:ext cx="1016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航天、医疗等强调完整规格与严格认证的场景变更空间很小，预测型过程往往更合适。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12800" y="2997200"/>
            <a:ext cx="279400" cy="279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44600" y="29718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5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对团队能力与纪律要求高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44600" y="3302000"/>
            <a:ext cx="1016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5A6373"/>
                </a:solidFill>
                <a:latin typeface="Noto Sans SC"/>
                <a:ea typeface="Noto Sans SC"/>
                <a:cs typeface="Noto Sans SC"/>
                <a:sym typeface="Noto Sans SC"/>
              </a:rPr>
              <a:t>自组织不等于无管理；成员能力不足、协作松散时，固定节奏很容易流于形式。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131" flipH="false" flipV="false">
            <a:off x="812804" y="3778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6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812800" y="3911600"/>
            <a:ext cx="762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高频误区：把“形式”当成了方法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" y="4241800"/>
            <a:ext cx="105664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0E4E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812800" y="4241800"/>
          <a:ext cx="10566400" cy="203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810000"/>
                <a:gridCol w="6756400"/>
              </a:tblGrid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常见误区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正确理解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“Scrum 就是每天开个站会”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8304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站会只是形式之一；核心是固定冲刺、可交付增量与持续改进。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“冲刺中可以随时插需求”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8304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冲刺目标确定后应保持稳定，新需求进入 Backlog，由下一冲刺排期。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5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“Scrum Master 就是项目经理”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50">
                          <a:solidFill>
                            <a:srgbClr val="28304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他不派活、不控人，而是引导流程、服务团队、为团队排除障碍。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16" id="16"/>
          <p:cNvSpPr/>
          <p:nvPr/>
        </p:nvSpPr>
        <p:spPr>
          <a:xfrm rot="0" flipH="false" flipV="false">
            <a:off x="812800" y="6477000"/>
            <a:ext cx="762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969EAA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来源：结合教材 3.2 敏捷方法适用边界与 Scrum 通用实践整理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617200" y="64770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969EAA"/>
                </a:solidFill>
                <a:latin typeface="Noto Sans SC"/>
                <a:ea typeface="Noto Sans SC"/>
                <a:cs typeface="Noto Sans SC"/>
                <a:sym typeface="Noto Sans SC"/>
              </a:rPr>
              <a:t>09 / 10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842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小结 · 回到开头的问题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87400" y="9906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能不能把大项目切成短周期，每段都交付可用软件并随时校准方向？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87400" y="1473200"/>
            <a:ext cx="106172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Scrum 用固定节奏的冲刺把大项目拆成可交付的小增量，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以透明与持续反馈驾驭需求变化。</a:t>
            </a:r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2660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4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2946400"/>
            <a:ext cx="10617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50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一条主线　</a:t>
            </a:r>
            <a:r>
              <a:rPr lang="en-US" b="false" i="false" strike="noStrike" u="none" sz="14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Backlog → Sprint Backlog → 1~4 周冲刺 → 产品增量，循环往复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" y="3454400"/>
            <a:ext cx="10617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50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三个角色　</a:t>
            </a:r>
            <a:r>
              <a:rPr lang="en-US" b="false" i="false" strike="noStrike" u="none" sz="14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产品拥有者定方向、敏捷教练护流程、开发团队做产品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" y="3962400"/>
            <a:ext cx="10617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50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四个活动　</a:t>
            </a:r>
            <a:r>
              <a:rPr lang="en-US" b="false" i="false" strike="noStrike" u="none" sz="14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计划会、每日站会、评审会、回顾会，撑起迭代闭环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" y="4470400"/>
            <a:ext cx="10617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450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一条边界　</a:t>
            </a:r>
            <a:r>
              <a:rPr lang="en-US" b="false" i="false" strike="noStrike" u="none" sz="14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需求越不确定，Scrum 越有价值；只学形式、不变文化则必然失效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4131" flipH="false" flipV="false">
            <a:off x="812804" y="5276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4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812800" y="5537200"/>
            <a:ext cx="635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谢谢聆听，欢迎提问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" y="6146800"/>
            <a:ext cx="889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参考资料：《软件工程》教材 3.2.3 Scrum 方法；Scrum Guide（scrumguides.org）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617200" y="6172200"/>
            <a:ext cx="762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10 / 10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